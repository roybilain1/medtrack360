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We are Roy and Jean-Paul. Today we will present our senior project: MedTrack 360. It is a complete system that connects three groups — patients, pharmacies, and the Ministry of Public Health — into one platform that tracks every medicine in the country, in real time.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Anyone living in Lebanon today knows the problem. A patient can walk into five pharmacies and still not find their medicine. Some pharmacies sell above the price the Ministry has set. Others hoard medicines and make the shortage worse. And the Ministry itself — the regulator — has very little real-time data to make decisions. Even the simple process of approving a new medicine can take weeks. We built MedTrack 360 to fix this with technology.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solution has three applications that all talk to a single cloud database. The citizen has a mobile app to find medicines. The pharmacy has a Point-of-Sale app for the counter. The Ministry has a web dashboard for oversight. All three are powered by one shared database hosted on Neon. The result: every sale, every price change, every new medicine — is immediately visible to anyone who needs to see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citizen app is the public face of the system. A patient opens the app, searches for 'Panadol', and sees every nearby pharmacy that has it, the exact stock level, and the price. Next to each price, we show the official Ministry-fixed price — so the citizen immediately knows if they are being charged fairly. They can save medicines to a personal watchlist, and the app notifies them when a nearby pharmacy restocks. The app also shows pharmacies on a real map. It's built with Flutter, which means one codebase runs on iPhone, Android, and even the web.</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POS app is what pharmacy staff use every day, just like a cash register. They scan a barcode, record the sale, and the inventory updates automatically. If stock drops too low, the app warns them. If they want to add a new medicine that isn't in the national registry yet, they can submit a request directly from the app to the Ministry — no paperwork. And one detail we're very proud of: the POS works offline. In rural areas where internet can be unstable, the pharmacy keeps selling, and when the connection comes back, everything syncs to the cloud automatically. We use a local SQLite database for this.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Ministry dashboard is where inspectors and supervisors do their job. In one screen, they see every medicine, every pharmacy, every transaction across the country. The compliance page automatically detects pharmacies selling above the ceiling price, or pharmacies hoarding stock with very few sales — without any human inspector visiting them. When a pharmacy submits a new medicine, it appears in the Governance Inbox with a notification badge. The admin reviews and approves it with one click — and the new medicine instantly appears in every citizen's app. The Ministry can also broadcast news — for example, a flu vaccine campaign — to every pharmacy in the country in real time.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chose tools that are modern and used by real companies — not just for learning. Flutter lets us build the citizen app and the POS app from one codebase. React with Vite gives the dashboard a fast, smooth experience. The Node and Express backends serve our REST APIs. The database is PostgreSQL hosted on Neon — it's serverless, which means it scales automatically with no servers for us to manage. And everywhere, we use secure HTTP authentication, so only the right people can access the right data.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Behind everything is one PostgreSQL database with 40 tables. The most important table is inventory_movements — every sale or purchase is one row. We wrote a smart database trigger: every time a sale happens, the trigger automatically updates that pharmacy's stock, the national total, and even the medicine's availability flag. This means our three apps don't have to coordinate manually — the database itself keeps everything consistent. It's what gives the whole system its real-time feel.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makes MedTrack 360 special is not any single feature — it's how all the pieces work together. A patient in Beirut searches for Panadol. The app shows Al-Amin Pharmacy has 130 units at the regulated price. Meanwhile, Al-Amin's staff just sold 5 boxes using the POS. The Ministry dashboard already shows the updated count and confirms that the price is in compliance. All of this happens in seconds, automatically, with no human pushing buttons. We are not just connecting screens — we are connecting decisions between citizens, businesses, and the government in real time. That is what makes this project strong, useful, and unique.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listening. We're happy to take any questions, and we can give you a live demo of any of the three applications you'd like to see.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F2E"/>
        </a:solidFill>
        <a:effectLst/>
      </p:bgPr>
    </p:bg>
    <p:spTree>
      <p:nvGrpSpPr>
        <p:cNvPr id="1" name=""/>
        <p:cNvGrpSpPr/>
        <p:nvPr/>
      </p:nvGrpSpPr>
      <p:grpSpPr/>
      <p:sp>
        <p:nvSpPr>
          <p:cNvPr id="2" name="Rectangle 1"/>
          <p:cNvSpPr/>
          <p:nvPr/>
        </p:nvSpPr>
        <p:spPr>
          <a:xfrm>
            <a:off x="0" y="2377440"/>
            <a:ext cx="12191695" cy="73152"/>
          </a:xfrm>
          <a:prstGeom prst="rect">
            <a:avLst/>
          </a:prstGeom>
          <a:solidFill>
            <a:srgbClr val="0F9D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0"/>
            <a:ext cx="11247120" cy="1097280"/>
          </a:xfrm>
          <a:prstGeom prst="rect">
            <a:avLst/>
          </a:prstGeom>
          <a:noFill/>
        </p:spPr>
        <p:txBody>
          <a:bodyPr wrap="square">
            <a:spAutoFit/>
          </a:bodyPr>
          <a:lstStyle/>
          <a:p>
            <a:pPr algn="ctr"/>
            <a:r>
              <a:rPr sz="7200" b="1">
                <a:solidFill>
                  <a:srgbClr val="FFFFFF"/>
                </a:solidFill>
                <a:latin typeface="Calibri"/>
              </a:rPr>
              <a:t>MedTrack 360</a:t>
            </a:r>
          </a:p>
        </p:txBody>
      </p:sp>
      <p:sp>
        <p:nvSpPr>
          <p:cNvPr id="4" name="TextBox 3"/>
          <p:cNvSpPr txBox="1"/>
          <p:nvPr/>
        </p:nvSpPr>
        <p:spPr>
          <a:xfrm>
            <a:off x="457200" y="3566160"/>
            <a:ext cx="11247120" cy="640080"/>
          </a:xfrm>
          <a:prstGeom prst="rect">
            <a:avLst/>
          </a:prstGeom>
          <a:noFill/>
        </p:spPr>
        <p:txBody>
          <a:bodyPr wrap="square">
            <a:spAutoFit/>
          </a:bodyPr>
          <a:lstStyle/>
          <a:p>
            <a:pPr algn="ctr"/>
            <a:r>
              <a:rPr sz="2400" b="0">
                <a:solidFill>
                  <a:srgbClr val="0F9D82"/>
                </a:solidFill>
                <a:latin typeface="Calibri"/>
              </a:rPr>
              <a:t>A unified medicine tracking system for Lebanese pharmacies</a:t>
            </a:r>
          </a:p>
        </p:txBody>
      </p:sp>
      <p:sp>
        <p:nvSpPr>
          <p:cNvPr id="5" name="TextBox 4"/>
          <p:cNvSpPr txBox="1"/>
          <p:nvPr/>
        </p:nvSpPr>
        <p:spPr>
          <a:xfrm>
            <a:off x="457200" y="4937760"/>
            <a:ext cx="11247120" cy="548640"/>
          </a:xfrm>
          <a:prstGeom prst="rect">
            <a:avLst/>
          </a:prstGeom>
          <a:noFill/>
        </p:spPr>
        <p:txBody>
          <a:bodyPr wrap="square">
            <a:spAutoFit/>
          </a:bodyPr>
          <a:lstStyle/>
          <a:p>
            <a:pPr algn="ctr"/>
            <a:r>
              <a:rPr sz="2200" b="0">
                <a:solidFill>
                  <a:srgbClr val="FFFFFF"/>
                </a:solidFill>
                <a:latin typeface="Calibri"/>
              </a:rPr>
              <a:t>Roy Bilain   &amp;   Jean-Paul</a:t>
            </a:r>
          </a:p>
        </p:txBody>
      </p:sp>
      <p:sp>
        <p:nvSpPr>
          <p:cNvPr id="6" name="TextBox 5"/>
          <p:cNvSpPr txBox="1"/>
          <p:nvPr/>
        </p:nvSpPr>
        <p:spPr>
          <a:xfrm>
            <a:off x="457200" y="5486400"/>
            <a:ext cx="11247120" cy="457200"/>
          </a:xfrm>
          <a:prstGeom prst="rect">
            <a:avLst/>
          </a:prstGeom>
          <a:noFill/>
        </p:spPr>
        <p:txBody>
          <a:bodyPr wrap="square">
            <a:spAutoFit/>
          </a:bodyPr>
          <a:lstStyle/>
          <a:p>
            <a:pPr algn="ctr"/>
            <a:r>
              <a:rPr sz="1600" b="0">
                <a:solidFill>
                  <a:srgbClr val="6B7A88"/>
                </a:solidFill>
                <a:latin typeface="Calibri"/>
              </a:rPr>
              <a:t>Senior Project — Computer Science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0F9D82"/>
          </a:solidFill>
          <a:ln>
            <a:noFill/>
          </a:ln>
        </p:spPr>
        <p:style>
          <a:lnRef idx="1">
            <a:schemeClr val="accent1"/>
          </a:lnRef>
          <a:fillRef idx="3">
            <a:schemeClr val="accent1"/>
          </a:fillRef>
          <a:effectRef idx="2">
            <a:schemeClr val="accent1"/>
          </a:effectRef>
          <a:fontRef idx="minor">
            <a:schemeClr val="lt1"/>
          </a:fontRef>
        </p:style>
        <p:txBody>
          <a:bodyPr rtlCol="0" anchor="ctr" lIns="548640"/>
          <a:lstStyle/>
          <a:p>
            <a:pPr algn="l"/>
            <a:r>
              <a:rPr sz="3200" b="1">
                <a:solidFill>
                  <a:srgbClr val="FFFFFF"/>
                </a:solidFill>
                <a:latin typeface="Calibri"/>
              </a:rPr>
              <a:t>The Problem</a:t>
            </a:r>
          </a:p>
        </p:txBody>
      </p:sp>
      <p:sp>
        <p:nvSpPr>
          <p:cNvPr id="3" name="TextBox 2"/>
          <p:cNvSpPr txBox="1"/>
          <p:nvPr/>
        </p:nvSpPr>
        <p:spPr>
          <a:xfrm>
            <a:off x="457200" y="1097280"/>
            <a:ext cx="11247120" cy="548640"/>
          </a:xfrm>
          <a:prstGeom prst="rect">
            <a:avLst/>
          </a:prstGeom>
          <a:noFill/>
        </p:spPr>
        <p:txBody>
          <a:bodyPr wrap="square">
            <a:spAutoFit/>
          </a:bodyPr>
          <a:lstStyle/>
          <a:p>
            <a:pPr algn="l"/>
            <a:r>
              <a:rPr sz="2200" b="1">
                <a:solidFill>
                  <a:srgbClr val="0F1F2E"/>
                </a:solidFill>
                <a:latin typeface="Calibri"/>
              </a:rPr>
              <a:t>The medication crisis in Lebanon today:</a:t>
            </a:r>
          </a:p>
        </p:txBody>
      </p:sp>
      <p:sp>
        <p:nvSpPr>
          <p:cNvPr id="4" name="TextBox 3"/>
          <p:cNvSpPr txBox="1"/>
          <p:nvPr/>
        </p:nvSpPr>
        <p:spPr>
          <a:xfrm>
            <a:off x="731520" y="1828800"/>
            <a:ext cx="7315200" cy="4114800"/>
          </a:xfrm>
          <a:prstGeom prst="rect">
            <a:avLst/>
          </a:prstGeom>
          <a:noFill/>
        </p:spPr>
        <p:txBody>
          <a:bodyPr wrap="square">
            <a:spAutoFit/>
          </a:bodyPr>
          <a:lstStyle/>
          <a:p>
            <a:pPr algn="l">
              <a:spcAft>
                <a:spcPts val="1000"/>
              </a:spcAft>
            </a:pPr>
            <a:r>
              <a:rPr sz="1800">
                <a:solidFill>
                  <a:srgbClr val="0F1F2E"/>
                </a:solidFill>
                <a:latin typeface="Calibri"/>
              </a:rPr>
              <a:t>• Patients visit many pharmacies just to find one medicine</a:t>
            </a:r>
          </a:p>
          <a:p>
            <a:pPr algn="l">
              <a:spcAft>
                <a:spcPts val="1000"/>
              </a:spcAft>
            </a:pPr>
            <a:r>
              <a:rPr sz="1800">
                <a:solidFill>
                  <a:srgbClr val="0F1F2E"/>
                </a:solidFill>
                <a:latin typeface="Calibri"/>
              </a:rPr>
              <a:t>• Some pharmacies sell above the Ministry's regulated price</a:t>
            </a:r>
          </a:p>
          <a:p>
            <a:pPr algn="l">
              <a:spcAft>
                <a:spcPts val="1000"/>
              </a:spcAft>
            </a:pPr>
            <a:r>
              <a:rPr sz="1800">
                <a:solidFill>
                  <a:srgbClr val="0F1F2E"/>
                </a:solidFill>
                <a:latin typeface="Calibri"/>
              </a:rPr>
              <a:t>• Hoarding makes shortages worse</a:t>
            </a:r>
          </a:p>
          <a:p>
            <a:pPr algn="l">
              <a:spcAft>
                <a:spcPts val="1000"/>
              </a:spcAft>
            </a:pPr>
            <a:r>
              <a:rPr sz="1800">
                <a:solidFill>
                  <a:srgbClr val="0F1F2E"/>
                </a:solidFill>
                <a:latin typeface="Calibri"/>
              </a:rPr>
              <a:t>• The Ministry has no real-time view of the supply chain</a:t>
            </a:r>
          </a:p>
          <a:p>
            <a:pPr algn="l">
              <a:spcAft>
                <a:spcPts val="1000"/>
              </a:spcAft>
            </a:pPr>
            <a:r>
              <a:rPr sz="1800">
                <a:solidFill>
                  <a:srgbClr val="0F1F2E"/>
                </a:solidFill>
                <a:latin typeface="Calibri"/>
              </a:rPr>
              <a:t>• New medicines wait weeks for paper-based approval</a:t>
            </a:r>
          </a:p>
        </p:txBody>
      </p:sp>
      <p:sp>
        <p:nvSpPr>
          <p:cNvPr id="5" name="Rectangle 4"/>
          <p:cNvSpPr/>
          <p:nvPr/>
        </p:nvSpPr>
        <p:spPr>
          <a:xfrm>
            <a:off x="8229600" y="1828800"/>
            <a:ext cx="3474720" cy="3200400"/>
          </a:xfrm>
          <a:prstGeom prst="rect">
            <a:avLst/>
          </a:prstGeom>
          <a:solidFill>
            <a:srgbClr val="E6EAEE"/>
          </a:solidFill>
          <a:ln w="12700">
            <a:solidFill>
              <a:srgbClr val="6B7A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i="1">
                <a:solidFill>
                  <a:srgbClr val="6B7A88"/>
                </a:solidFill>
              </a:rPr>
              <a:t>[ Optional photo:
empty pharmacy shelf
or news headline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0F9D82"/>
          </a:solidFill>
          <a:ln>
            <a:noFill/>
          </a:ln>
        </p:spPr>
        <p:style>
          <a:lnRef idx="1">
            <a:schemeClr val="accent1"/>
          </a:lnRef>
          <a:fillRef idx="3">
            <a:schemeClr val="accent1"/>
          </a:fillRef>
          <a:effectRef idx="2">
            <a:schemeClr val="accent1"/>
          </a:effectRef>
          <a:fontRef idx="minor">
            <a:schemeClr val="lt1"/>
          </a:fontRef>
        </p:style>
        <p:txBody>
          <a:bodyPr rtlCol="0" anchor="ctr" lIns="548640"/>
          <a:lstStyle/>
          <a:p>
            <a:pPr algn="l"/>
            <a:r>
              <a:rPr sz="3200" b="1">
                <a:solidFill>
                  <a:srgbClr val="FFFFFF"/>
                </a:solidFill>
                <a:latin typeface="Calibri"/>
              </a:rPr>
              <a:t>Our Solution — Three Apps, One Brain</a:t>
            </a:r>
          </a:p>
        </p:txBody>
      </p:sp>
      <p:sp>
        <p:nvSpPr>
          <p:cNvPr id="3" name="Rectangle 2"/>
          <p:cNvSpPr/>
          <p:nvPr/>
        </p:nvSpPr>
        <p:spPr>
          <a:xfrm>
            <a:off x="365760" y="1463040"/>
            <a:ext cx="3291840" cy="2194560"/>
          </a:xfrm>
          <a:prstGeom prst="rect">
            <a:avLst/>
          </a:prstGeom>
          <a:solidFill>
            <a:srgbClr val="FFFFFF"/>
          </a:solidFill>
          <a:ln w="25400">
            <a:solidFill>
              <a:srgbClr val="0F9D82"/>
            </a:solidFill>
          </a:ln>
        </p:spPr>
        <p:style>
          <a:lnRef idx="1">
            <a:schemeClr val="accent1"/>
          </a:lnRef>
          <a:fillRef idx="3">
            <a:schemeClr val="accent1"/>
          </a:fillRef>
          <a:effectRef idx="2">
            <a:schemeClr val="accent1"/>
          </a:effectRef>
          <a:fontRef idx="minor">
            <a:schemeClr val="lt1"/>
          </a:fontRef>
        </p:style>
        <p:txBody>
          <a:bodyPr rtlCol="0" anchor="ctr" wrap="square" tIns="365760"/>
          <a:lstStyle/>
          <a:p>
            <a:pPr algn="ctr"/>
            <a:r>
              <a:rPr sz="2200" b="1">
                <a:solidFill>
                  <a:srgbClr val="0F1F2E"/>
                </a:solidFill>
              </a:rPr>
              <a:t>📱 Citizen App</a:t>
            </a:r>
          </a:p>
          <a:p>
            <a:pPr algn="ctr">
              <a:spcBef>
                <a:spcPts val="2000"/>
              </a:spcBef>
            </a:pPr>
            <a:r>
              <a:rPr sz="1600">
                <a:solidFill>
                  <a:srgbClr val="0F9D82"/>
                </a:solidFill>
              </a:rPr>
              <a:t>Flutter</a:t>
            </a:r>
          </a:p>
        </p:txBody>
      </p:sp>
      <p:sp>
        <p:nvSpPr>
          <p:cNvPr id="4" name="Rectangle 3"/>
          <p:cNvSpPr/>
          <p:nvPr/>
        </p:nvSpPr>
        <p:spPr>
          <a:xfrm>
            <a:off x="3931920" y="1463040"/>
            <a:ext cx="3291840" cy="2194560"/>
          </a:xfrm>
          <a:prstGeom prst="rect">
            <a:avLst/>
          </a:prstGeom>
          <a:solidFill>
            <a:srgbClr val="FFFFFF"/>
          </a:solidFill>
          <a:ln w="25400">
            <a:solidFill>
              <a:srgbClr val="0F9D82"/>
            </a:solidFill>
          </a:ln>
        </p:spPr>
        <p:style>
          <a:lnRef idx="1">
            <a:schemeClr val="accent1"/>
          </a:lnRef>
          <a:fillRef idx="3">
            <a:schemeClr val="accent1"/>
          </a:fillRef>
          <a:effectRef idx="2">
            <a:schemeClr val="accent1"/>
          </a:effectRef>
          <a:fontRef idx="minor">
            <a:schemeClr val="lt1"/>
          </a:fontRef>
        </p:style>
        <p:txBody>
          <a:bodyPr rtlCol="0" anchor="ctr" wrap="square" tIns="365760"/>
          <a:lstStyle/>
          <a:p>
            <a:pPr algn="ctr"/>
            <a:r>
              <a:rPr sz="2200" b="1">
                <a:solidFill>
                  <a:srgbClr val="0F1F2E"/>
                </a:solidFill>
              </a:rPr>
              <a:t>💼 POS App</a:t>
            </a:r>
          </a:p>
          <a:p>
            <a:pPr algn="ctr">
              <a:spcBef>
                <a:spcPts val="2000"/>
              </a:spcBef>
            </a:pPr>
            <a:r>
              <a:rPr sz="1600">
                <a:solidFill>
                  <a:srgbClr val="0F9D82"/>
                </a:solidFill>
              </a:rPr>
              <a:t>Flutter</a:t>
            </a:r>
          </a:p>
        </p:txBody>
      </p:sp>
      <p:sp>
        <p:nvSpPr>
          <p:cNvPr id="5" name="Rectangle 4"/>
          <p:cNvSpPr/>
          <p:nvPr/>
        </p:nvSpPr>
        <p:spPr>
          <a:xfrm>
            <a:off x="7498080" y="1463040"/>
            <a:ext cx="3291840" cy="2194560"/>
          </a:xfrm>
          <a:prstGeom prst="rect">
            <a:avLst/>
          </a:prstGeom>
          <a:solidFill>
            <a:srgbClr val="FFFFFF"/>
          </a:solidFill>
          <a:ln w="25400">
            <a:solidFill>
              <a:srgbClr val="0F9D82"/>
            </a:solidFill>
          </a:ln>
        </p:spPr>
        <p:style>
          <a:lnRef idx="1">
            <a:schemeClr val="accent1"/>
          </a:lnRef>
          <a:fillRef idx="3">
            <a:schemeClr val="accent1"/>
          </a:fillRef>
          <a:effectRef idx="2">
            <a:schemeClr val="accent1"/>
          </a:effectRef>
          <a:fontRef idx="minor">
            <a:schemeClr val="lt1"/>
          </a:fontRef>
        </p:style>
        <p:txBody>
          <a:bodyPr rtlCol="0" anchor="ctr" wrap="square" tIns="365760"/>
          <a:lstStyle/>
          <a:p>
            <a:pPr algn="ctr"/>
            <a:r>
              <a:rPr sz="2200" b="1">
                <a:solidFill>
                  <a:srgbClr val="0F1F2E"/>
                </a:solidFill>
              </a:rPr>
              <a:t>🖥️ Ministry Dashboard</a:t>
            </a:r>
          </a:p>
          <a:p>
            <a:pPr algn="ctr">
              <a:spcBef>
                <a:spcPts val="2000"/>
              </a:spcBef>
            </a:pPr>
            <a:r>
              <a:rPr sz="1600">
                <a:solidFill>
                  <a:srgbClr val="0F9D82"/>
                </a:solidFill>
              </a:rPr>
              <a:t>React</a:t>
            </a:r>
          </a:p>
        </p:txBody>
      </p:sp>
      <p:sp>
        <p:nvSpPr>
          <p:cNvPr id="6" name="Up-Down Arrow 5"/>
          <p:cNvSpPr/>
          <p:nvPr/>
        </p:nvSpPr>
        <p:spPr>
          <a:xfrm>
            <a:off x="5852160" y="3749039"/>
            <a:ext cx="457200" cy="457200"/>
          </a:xfrm>
          <a:prstGeom prst="upDownArrow">
            <a:avLst/>
          </a:prstGeom>
          <a:solidFill>
            <a:srgbClr val="6B7A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86000" y="4297680"/>
            <a:ext cx="7589520" cy="640080"/>
          </a:xfrm>
          <a:prstGeom prst="rect">
            <a:avLst/>
          </a:prstGeom>
          <a:solidFill>
            <a:srgbClr val="E6F7F1"/>
          </a:solidFill>
          <a:ln>
            <a:solidFill>
              <a:srgbClr val="0F9D8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0F1F2E"/>
                </a:solidFill>
              </a:rPr>
              <a:t>🌐 Node.js + Express REST APIs</a:t>
            </a:r>
          </a:p>
        </p:txBody>
      </p:sp>
      <p:sp>
        <p:nvSpPr>
          <p:cNvPr id="8" name="Up-Down Arrow 7"/>
          <p:cNvSpPr/>
          <p:nvPr/>
        </p:nvSpPr>
        <p:spPr>
          <a:xfrm>
            <a:off x="5852160" y="5029200"/>
            <a:ext cx="457200" cy="457200"/>
          </a:xfrm>
          <a:prstGeom prst="upDownArrow">
            <a:avLst/>
          </a:prstGeom>
          <a:solidFill>
            <a:srgbClr val="6B7A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00400" y="5577840"/>
            <a:ext cx="5760720" cy="640080"/>
          </a:xfrm>
          <a:prstGeom prst="rect">
            <a:avLst/>
          </a:prstGeom>
          <a:solidFill>
            <a:srgbClr val="0F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rPr>
              <a:t>☁️ Neon PostgreSQL — one shared cloud database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0F9D82"/>
          </a:solidFill>
          <a:ln>
            <a:noFill/>
          </a:ln>
        </p:spPr>
        <p:style>
          <a:lnRef idx="1">
            <a:schemeClr val="accent1"/>
          </a:lnRef>
          <a:fillRef idx="3">
            <a:schemeClr val="accent1"/>
          </a:fillRef>
          <a:effectRef idx="2">
            <a:schemeClr val="accent1"/>
          </a:effectRef>
          <a:fontRef idx="minor">
            <a:schemeClr val="lt1"/>
          </a:fontRef>
        </p:style>
        <p:txBody>
          <a:bodyPr rtlCol="0" anchor="ctr" lIns="548640"/>
          <a:lstStyle/>
          <a:p>
            <a:pPr algn="l"/>
            <a:r>
              <a:rPr sz="3200" b="1">
                <a:solidFill>
                  <a:srgbClr val="FFFFFF"/>
                </a:solidFill>
                <a:latin typeface="Calibri"/>
              </a:rPr>
              <a:t>The Citizen App  📱</a:t>
            </a:r>
          </a:p>
        </p:txBody>
      </p:sp>
      <p:sp>
        <p:nvSpPr>
          <p:cNvPr id="3" name="TextBox 2"/>
          <p:cNvSpPr txBox="1"/>
          <p:nvPr/>
        </p:nvSpPr>
        <p:spPr>
          <a:xfrm>
            <a:off x="457200" y="1097280"/>
            <a:ext cx="11247120" cy="457200"/>
          </a:xfrm>
          <a:prstGeom prst="rect">
            <a:avLst/>
          </a:prstGeom>
          <a:noFill/>
        </p:spPr>
        <p:txBody>
          <a:bodyPr wrap="square">
            <a:spAutoFit/>
          </a:bodyPr>
          <a:lstStyle/>
          <a:p>
            <a:pPr algn="l"/>
            <a:r>
              <a:rPr sz="2000" b="1">
                <a:solidFill>
                  <a:srgbClr val="0F9D82"/>
                </a:solidFill>
                <a:latin typeface="Calibri"/>
              </a:rPr>
              <a:t>For the public — find medicines, anywhere, fast.</a:t>
            </a:r>
          </a:p>
        </p:txBody>
      </p:sp>
      <p:sp>
        <p:nvSpPr>
          <p:cNvPr id="4" name="TextBox 3"/>
          <p:cNvSpPr txBox="1"/>
          <p:nvPr/>
        </p:nvSpPr>
        <p:spPr>
          <a:xfrm>
            <a:off x="548640" y="1737360"/>
            <a:ext cx="6400800" cy="4114800"/>
          </a:xfrm>
          <a:prstGeom prst="rect">
            <a:avLst/>
          </a:prstGeom>
          <a:noFill/>
        </p:spPr>
        <p:txBody>
          <a:bodyPr wrap="square">
            <a:spAutoFit/>
          </a:bodyPr>
          <a:lstStyle/>
          <a:p>
            <a:pPr algn="l">
              <a:spcAft>
                <a:spcPts val="1000"/>
              </a:spcAft>
            </a:pPr>
            <a:r>
              <a:rPr sz="1600">
                <a:solidFill>
                  <a:srgbClr val="0F1F2E"/>
                </a:solidFill>
                <a:latin typeface="Calibri"/>
              </a:rPr>
              <a:t>🔍  Search medicines by name or barcode</a:t>
            </a:r>
          </a:p>
          <a:p>
            <a:pPr algn="l">
              <a:spcAft>
                <a:spcPts val="1000"/>
              </a:spcAft>
            </a:pPr>
            <a:r>
              <a:rPr sz="1600">
                <a:solidFill>
                  <a:srgbClr val="0F1F2E"/>
                </a:solidFill>
                <a:latin typeface="Calibri"/>
              </a:rPr>
              <a:t>📍  See nearby pharmacies that have it in stock</a:t>
            </a:r>
          </a:p>
          <a:p>
            <a:pPr algn="l">
              <a:spcAft>
                <a:spcPts val="1000"/>
              </a:spcAft>
            </a:pPr>
            <a:r>
              <a:rPr sz="1600">
                <a:solidFill>
                  <a:srgbClr val="0F1F2E"/>
                </a:solidFill>
                <a:latin typeface="Calibri"/>
              </a:rPr>
              <a:t>💵  Compare each pharmacy price to the official Ministry price</a:t>
            </a:r>
          </a:p>
          <a:p>
            <a:pPr algn="l">
              <a:spcAft>
                <a:spcPts val="1000"/>
              </a:spcAft>
            </a:pPr>
            <a:r>
              <a:rPr sz="1600">
                <a:solidFill>
                  <a:srgbClr val="0F1F2E"/>
                </a:solidFill>
                <a:latin typeface="Calibri"/>
              </a:rPr>
              <a:t>❤️  Personal watchlist + restock notifications</a:t>
            </a:r>
          </a:p>
          <a:p>
            <a:pPr algn="l">
              <a:spcAft>
                <a:spcPts val="1000"/>
              </a:spcAft>
            </a:pPr>
            <a:r>
              <a:rPr sz="1600">
                <a:solidFill>
                  <a:srgbClr val="0F1F2E"/>
                </a:solidFill>
                <a:latin typeface="Calibri"/>
              </a:rPr>
              <a:t>🗺️  Live availability shown on a real map</a:t>
            </a:r>
          </a:p>
          <a:p>
            <a:pPr algn="l">
              <a:spcAft>
                <a:spcPts val="1000"/>
              </a:spcAft>
            </a:pPr>
            <a:r>
              <a:rPr sz="1600">
                <a:solidFill>
                  <a:srgbClr val="0F1F2E"/>
                </a:solidFill>
                <a:latin typeface="Calibri"/>
              </a:rPr>
              <a:t>📰  Reads health news pushed by the Ministry</a:t>
            </a:r>
          </a:p>
          <a:p>
            <a:pPr algn="l">
              <a:spcAft>
                <a:spcPts val="1000"/>
              </a:spcAft>
            </a:pPr>
            <a:r>
              <a:rPr sz="1600">
                <a:solidFill>
                  <a:srgbClr val="0F1F2E"/>
                </a:solidFill>
                <a:latin typeface="Calibri"/>
              </a:rPr>
              <a:t/>
            </a:r>
          </a:p>
          <a:p>
            <a:pPr algn="l">
              <a:spcAft>
                <a:spcPts val="1000"/>
              </a:spcAft>
            </a:pPr>
            <a:r>
              <a:rPr sz="1600">
                <a:solidFill>
                  <a:srgbClr val="0F1F2E"/>
                </a:solidFill>
                <a:latin typeface="Calibri"/>
              </a:rPr>
              <a:t>Built with Flutter — one codebase, runs on iOS, Android, web.</a:t>
            </a:r>
          </a:p>
        </p:txBody>
      </p:sp>
      <p:sp>
        <p:nvSpPr>
          <p:cNvPr id="5" name="Rectangle 4"/>
          <p:cNvSpPr/>
          <p:nvPr/>
        </p:nvSpPr>
        <p:spPr>
          <a:xfrm>
            <a:off x="7315200" y="1737360"/>
            <a:ext cx="4389120" cy="4389120"/>
          </a:xfrm>
          <a:prstGeom prst="rect">
            <a:avLst/>
          </a:prstGeom>
          <a:solidFill>
            <a:srgbClr val="E6EAEE"/>
          </a:solidFill>
          <a:ln w="12700">
            <a:solidFill>
              <a:srgbClr val="6B7A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i="1">
                <a:solidFill>
                  <a:srgbClr val="6B7A88"/>
                </a:solidFill>
              </a:rPr>
              <a:t>[ Add 2–3 screenshots:
search screen,
pharmacy list with prices,
map view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0F9D82"/>
          </a:solidFill>
          <a:ln>
            <a:noFill/>
          </a:ln>
        </p:spPr>
        <p:style>
          <a:lnRef idx="1">
            <a:schemeClr val="accent1"/>
          </a:lnRef>
          <a:fillRef idx="3">
            <a:schemeClr val="accent1"/>
          </a:fillRef>
          <a:effectRef idx="2">
            <a:schemeClr val="accent1"/>
          </a:effectRef>
          <a:fontRef idx="minor">
            <a:schemeClr val="lt1"/>
          </a:fontRef>
        </p:style>
        <p:txBody>
          <a:bodyPr rtlCol="0" anchor="ctr" lIns="548640"/>
          <a:lstStyle/>
          <a:p>
            <a:pPr algn="l"/>
            <a:r>
              <a:rPr sz="3200" b="1">
                <a:solidFill>
                  <a:srgbClr val="FFFFFF"/>
                </a:solidFill>
                <a:latin typeface="Calibri"/>
              </a:rPr>
              <a:t>The POS App  💼  for Pharmacies</a:t>
            </a:r>
          </a:p>
        </p:txBody>
      </p:sp>
      <p:sp>
        <p:nvSpPr>
          <p:cNvPr id="3" name="TextBox 2"/>
          <p:cNvSpPr txBox="1"/>
          <p:nvPr/>
        </p:nvSpPr>
        <p:spPr>
          <a:xfrm>
            <a:off x="457200" y="1097280"/>
            <a:ext cx="11247120" cy="457200"/>
          </a:xfrm>
          <a:prstGeom prst="rect">
            <a:avLst/>
          </a:prstGeom>
          <a:noFill/>
        </p:spPr>
        <p:txBody>
          <a:bodyPr wrap="square">
            <a:spAutoFit/>
          </a:bodyPr>
          <a:lstStyle/>
          <a:p>
            <a:pPr algn="l"/>
            <a:r>
              <a:rPr sz="2000" b="1">
                <a:solidFill>
                  <a:srgbClr val="0F9D82"/>
                </a:solidFill>
                <a:latin typeface="Calibri"/>
              </a:rPr>
              <a:t>For pharmacy staff — modern POS + smart inventory.</a:t>
            </a:r>
          </a:p>
        </p:txBody>
      </p:sp>
      <p:sp>
        <p:nvSpPr>
          <p:cNvPr id="4" name="TextBox 3"/>
          <p:cNvSpPr txBox="1"/>
          <p:nvPr/>
        </p:nvSpPr>
        <p:spPr>
          <a:xfrm>
            <a:off x="548640" y="1737360"/>
            <a:ext cx="6400800" cy="4389120"/>
          </a:xfrm>
          <a:prstGeom prst="rect">
            <a:avLst/>
          </a:prstGeom>
          <a:noFill/>
        </p:spPr>
        <p:txBody>
          <a:bodyPr wrap="square">
            <a:spAutoFit/>
          </a:bodyPr>
          <a:lstStyle/>
          <a:p>
            <a:pPr algn="l">
              <a:spcAft>
                <a:spcPts val="1000"/>
              </a:spcAft>
            </a:pPr>
            <a:r>
              <a:rPr sz="1600">
                <a:solidFill>
                  <a:srgbClr val="0F1F2E"/>
                </a:solidFill>
                <a:latin typeface="Calibri"/>
              </a:rPr>
              <a:t>💼  Record sales and purchases at the counter</a:t>
            </a:r>
          </a:p>
          <a:p>
            <a:pPr algn="l">
              <a:spcAft>
                <a:spcPts val="1000"/>
              </a:spcAft>
            </a:pPr>
            <a:r>
              <a:rPr sz="1600">
                <a:solidFill>
                  <a:srgbClr val="0F1F2E"/>
                </a:solidFill>
                <a:latin typeface="Calibri"/>
              </a:rPr>
              <a:t>📊  Real-time inventory updates after every sale</a:t>
            </a:r>
          </a:p>
          <a:p>
            <a:pPr algn="l">
              <a:spcAft>
                <a:spcPts val="1000"/>
              </a:spcAft>
            </a:pPr>
            <a:r>
              <a:rPr sz="1600">
                <a:solidFill>
                  <a:srgbClr val="0F1F2E"/>
                </a:solidFill>
                <a:latin typeface="Calibri"/>
              </a:rPr>
              <a:t>🚨  Low-stock alerts + expiry warnings</a:t>
            </a:r>
          </a:p>
          <a:p>
            <a:pPr algn="l">
              <a:spcAft>
                <a:spcPts val="1000"/>
              </a:spcAft>
            </a:pPr>
            <a:r>
              <a:rPr sz="1600">
                <a:solidFill>
                  <a:srgbClr val="0F1F2E"/>
                </a:solidFill>
                <a:latin typeface="Calibri"/>
              </a:rPr>
              <a:t>📤  Submit new medicines for Ministry approval</a:t>
            </a:r>
          </a:p>
          <a:p>
            <a:pPr algn="l">
              <a:spcAft>
                <a:spcPts val="1000"/>
              </a:spcAft>
            </a:pPr>
            <a:r>
              <a:rPr sz="1600">
                <a:solidFill>
                  <a:srgbClr val="0F1F2E"/>
                </a:solidFill>
                <a:latin typeface="Calibri"/>
              </a:rPr>
              <a:t>🔄  Works offline — local SQLite, syncs when online</a:t>
            </a:r>
          </a:p>
          <a:p>
            <a:pPr algn="l">
              <a:spcAft>
                <a:spcPts val="1000"/>
              </a:spcAft>
            </a:pPr>
            <a:r>
              <a:rPr sz="1600">
                <a:solidFill>
                  <a:srgbClr val="0F1F2E"/>
                </a:solidFill>
                <a:latin typeface="Calibri"/>
              </a:rPr>
              <a:t>📰  Receives Ministry announcements</a:t>
            </a:r>
          </a:p>
          <a:p>
            <a:pPr algn="l">
              <a:spcAft>
                <a:spcPts val="1000"/>
              </a:spcAft>
            </a:pPr>
            <a:r>
              <a:rPr sz="1600">
                <a:solidFill>
                  <a:srgbClr val="0F1F2E"/>
                </a:solidFill>
                <a:latin typeface="Calibri"/>
              </a:rPr>
              <a:t/>
            </a:r>
          </a:p>
          <a:p>
            <a:pPr algn="l">
              <a:spcAft>
                <a:spcPts val="1000"/>
              </a:spcAft>
            </a:pPr>
            <a:r>
              <a:rPr sz="1600">
                <a:solidFill>
                  <a:srgbClr val="0F1F2E"/>
                </a:solidFill>
                <a:latin typeface="Calibri"/>
              </a:rPr>
              <a:t>Built with Flutter + offline-first design.</a:t>
            </a:r>
          </a:p>
        </p:txBody>
      </p:sp>
      <p:sp>
        <p:nvSpPr>
          <p:cNvPr id="5" name="Rectangle 4"/>
          <p:cNvSpPr/>
          <p:nvPr/>
        </p:nvSpPr>
        <p:spPr>
          <a:xfrm>
            <a:off x="7315200" y="1737360"/>
            <a:ext cx="4389120" cy="4389120"/>
          </a:xfrm>
          <a:prstGeom prst="rect">
            <a:avLst/>
          </a:prstGeom>
          <a:solidFill>
            <a:srgbClr val="E6EAEE"/>
          </a:solidFill>
          <a:ln w="12700">
            <a:solidFill>
              <a:srgbClr val="6B7A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i="1">
                <a:solidFill>
                  <a:srgbClr val="6B7A88"/>
                </a:solidFill>
              </a:rPr>
              <a:t>[ Add 2–3 POS screenshots:
inventory list,
sale / checkout,
add-medicine dialog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0F9D82"/>
          </a:solidFill>
          <a:ln>
            <a:noFill/>
          </a:ln>
        </p:spPr>
        <p:style>
          <a:lnRef idx="1">
            <a:schemeClr val="accent1"/>
          </a:lnRef>
          <a:fillRef idx="3">
            <a:schemeClr val="accent1"/>
          </a:fillRef>
          <a:effectRef idx="2">
            <a:schemeClr val="accent1"/>
          </a:effectRef>
          <a:fontRef idx="minor">
            <a:schemeClr val="lt1"/>
          </a:fontRef>
        </p:style>
        <p:txBody>
          <a:bodyPr rtlCol="0" anchor="ctr" lIns="548640"/>
          <a:lstStyle/>
          <a:p>
            <a:pPr algn="l"/>
            <a:r>
              <a:rPr sz="3200" b="1">
                <a:solidFill>
                  <a:srgbClr val="FFFFFF"/>
                </a:solidFill>
                <a:latin typeface="Calibri"/>
              </a:rPr>
              <a:t>The Ministry Dashboard  🖥️</a:t>
            </a:r>
          </a:p>
        </p:txBody>
      </p:sp>
      <p:sp>
        <p:nvSpPr>
          <p:cNvPr id="3" name="TextBox 2"/>
          <p:cNvSpPr txBox="1"/>
          <p:nvPr/>
        </p:nvSpPr>
        <p:spPr>
          <a:xfrm>
            <a:off x="457200" y="1097280"/>
            <a:ext cx="11247120" cy="457200"/>
          </a:xfrm>
          <a:prstGeom prst="rect">
            <a:avLst/>
          </a:prstGeom>
          <a:noFill/>
        </p:spPr>
        <p:txBody>
          <a:bodyPr wrap="square">
            <a:spAutoFit/>
          </a:bodyPr>
          <a:lstStyle/>
          <a:p>
            <a:pPr algn="l"/>
            <a:r>
              <a:rPr sz="2000" b="1">
                <a:solidFill>
                  <a:srgbClr val="0F9D82"/>
                </a:solidFill>
                <a:latin typeface="Calibri"/>
              </a:rPr>
              <a:t>For the Ministry of Public Health — full visibility, real-time control.</a:t>
            </a:r>
          </a:p>
        </p:txBody>
      </p:sp>
      <p:sp>
        <p:nvSpPr>
          <p:cNvPr id="4" name="TextBox 3"/>
          <p:cNvSpPr txBox="1"/>
          <p:nvPr/>
        </p:nvSpPr>
        <p:spPr>
          <a:xfrm>
            <a:off x="548640" y="1737360"/>
            <a:ext cx="6400800" cy="4389120"/>
          </a:xfrm>
          <a:prstGeom prst="rect">
            <a:avLst/>
          </a:prstGeom>
          <a:noFill/>
        </p:spPr>
        <p:txBody>
          <a:bodyPr wrap="square">
            <a:spAutoFit/>
          </a:bodyPr>
          <a:lstStyle/>
          <a:p>
            <a:pPr algn="l">
              <a:spcAft>
                <a:spcPts val="1000"/>
              </a:spcAft>
            </a:pPr>
            <a:r>
              <a:rPr sz="1600">
                <a:solidFill>
                  <a:srgbClr val="0F1F2E"/>
                </a:solidFill>
                <a:latin typeface="Calibri"/>
              </a:rPr>
              <a:t>📊  Stock Oversight — live inventory across every pharmacy</a:t>
            </a:r>
          </a:p>
          <a:p>
            <a:pPr algn="l">
              <a:spcAft>
                <a:spcPts val="1000"/>
              </a:spcAft>
            </a:pPr>
            <a:r>
              <a:rPr sz="1600">
                <a:solidFill>
                  <a:srgbClr val="0F1F2E"/>
                </a:solidFill>
                <a:latin typeface="Calibri"/>
              </a:rPr>
              <a:t>⚠️  Compliance Monitoring — auto-detects price violations &amp; hoarding</a:t>
            </a:r>
          </a:p>
          <a:p>
            <a:pPr algn="l">
              <a:spcAft>
                <a:spcPts val="1000"/>
              </a:spcAft>
            </a:pPr>
            <a:r>
              <a:rPr sz="1600">
                <a:solidFill>
                  <a:srgbClr val="0F1F2E"/>
                </a:solidFill>
                <a:latin typeface="Calibri"/>
              </a:rPr>
              <a:t>🆕  Governance Inbox — approve / reject new medicines (live badge)</a:t>
            </a:r>
          </a:p>
          <a:p>
            <a:pPr algn="l">
              <a:spcAft>
                <a:spcPts val="1000"/>
              </a:spcAft>
            </a:pPr>
            <a:r>
              <a:rPr sz="1600">
                <a:solidFill>
                  <a:srgbClr val="0F1F2E"/>
                </a:solidFill>
                <a:latin typeface="Calibri"/>
              </a:rPr>
              <a:t>📡  Sync Health — which pharmacies are online</a:t>
            </a:r>
          </a:p>
          <a:p>
            <a:pPr algn="l">
              <a:spcAft>
                <a:spcPts val="1000"/>
              </a:spcAft>
            </a:pPr>
            <a:r>
              <a:rPr sz="1600">
                <a:solidFill>
                  <a:srgbClr val="0F1F2E"/>
                </a:solidFill>
                <a:latin typeface="Calibri"/>
              </a:rPr>
              <a:t>📰  Announcements — broadcast to every POS instantly</a:t>
            </a:r>
          </a:p>
          <a:p>
            <a:pPr algn="l">
              <a:spcAft>
                <a:spcPts val="1000"/>
              </a:spcAft>
            </a:pPr>
            <a:r>
              <a:rPr sz="1600">
                <a:solidFill>
                  <a:srgbClr val="0F1F2E"/>
                </a:solidFill>
                <a:latin typeface="Calibri"/>
              </a:rPr>
              <a:t>🏥  Master Registry — central control of pharmacies &amp; medicines</a:t>
            </a:r>
          </a:p>
          <a:p>
            <a:pPr algn="l">
              <a:spcAft>
                <a:spcPts val="1000"/>
              </a:spcAft>
            </a:pPr>
            <a:r>
              <a:rPr sz="1600">
                <a:solidFill>
                  <a:srgbClr val="0F1F2E"/>
                </a:solidFill>
                <a:latin typeface="Calibri"/>
              </a:rPr>
              <a:t/>
            </a:r>
          </a:p>
          <a:p>
            <a:pPr algn="l">
              <a:spcAft>
                <a:spcPts val="1000"/>
              </a:spcAft>
            </a:pPr>
            <a:r>
              <a:rPr sz="1600">
                <a:solidFill>
                  <a:srgbClr val="0F1F2E"/>
                </a:solidFill>
                <a:latin typeface="Calibri"/>
              </a:rPr>
              <a:t>Built with React + Vite for a fast, professional admin experience.</a:t>
            </a:r>
          </a:p>
        </p:txBody>
      </p:sp>
      <p:sp>
        <p:nvSpPr>
          <p:cNvPr id="5" name="Rectangle 4"/>
          <p:cNvSpPr/>
          <p:nvPr/>
        </p:nvSpPr>
        <p:spPr>
          <a:xfrm>
            <a:off x="7315200" y="1737360"/>
            <a:ext cx="4389120" cy="4389120"/>
          </a:xfrm>
          <a:prstGeom prst="rect">
            <a:avLst/>
          </a:prstGeom>
          <a:solidFill>
            <a:srgbClr val="E6EAEE"/>
          </a:solidFill>
          <a:ln w="12700">
            <a:solidFill>
              <a:srgbClr val="6B7A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i="1">
                <a:solidFill>
                  <a:srgbClr val="6B7A88"/>
                </a:solidFill>
              </a:rPr>
              <a:t>[ Add 2–3 dashboard screenshots:
Compliance Monitoring,
Governance Inbox,
Master Registry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0F9D82"/>
          </a:solidFill>
          <a:ln>
            <a:noFill/>
          </a:ln>
        </p:spPr>
        <p:style>
          <a:lnRef idx="1">
            <a:schemeClr val="accent1"/>
          </a:lnRef>
          <a:fillRef idx="3">
            <a:schemeClr val="accent1"/>
          </a:fillRef>
          <a:effectRef idx="2">
            <a:schemeClr val="accent1"/>
          </a:effectRef>
          <a:fontRef idx="minor">
            <a:schemeClr val="lt1"/>
          </a:fontRef>
        </p:style>
        <p:txBody>
          <a:bodyPr rtlCol="0" anchor="ctr" lIns="548640"/>
          <a:lstStyle/>
          <a:p>
            <a:pPr algn="l"/>
            <a:r>
              <a:rPr sz="3200" b="1">
                <a:solidFill>
                  <a:srgbClr val="FFFFFF"/>
                </a:solidFill>
                <a:latin typeface="Calibri"/>
              </a:rPr>
              <a:t>Architecture &amp; Tech Stack</a:t>
            </a:r>
          </a:p>
        </p:txBody>
      </p:sp>
      <p:sp>
        <p:nvSpPr>
          <p:cNvPr id="3" name="TextBox 2"/>
          <p:cNvSpPr txBox="1"/>
          <p:nvPr/>
        </p:nvSpPr>
        <p:spPr>
          <a:xfrm>
            <a:off x="457200" y="1097280"/>
            <a:ext cx="11247120" cy="457200"/>
          </a:xfrm>
          <a:prstGeom prst="rect">
            <a:avLst/>
          </a:prstGeom>
          <a:noFill/>
        </p:spPr>
        <p:txBody>
          <a:bodyPr wrap="square">
            <a:spAutoFit/>
          </a:bodyPr>
          <a:lstStyle/>
          <a:p>
            <a:pPr algn="l"/>
            <a:r>
              <a:rPr sz="2000" b="1">
                <a:solidFill>
                  <a:srgbClr val="0F9D82"/>
                </a:solidFill>
                <a:latin typeface="Calibri"/>
              </a:rPr>
              <a:t>Modern, professional, scalable.</a:t>
            </a:r>
          </a:p>
        </p:txBody>
      </p:sp>
      <p:sp>
        <p:nvSpPr>
          <p:cNvPr id="4" name="TextBox 3"/>
          <p:cNvSpPr txBox="1"/>
          <p:nvPr/>
        </p:nvSpPr>
        <p:spPr>
          <a:xfrm>
            <a:off x="640080" y="1828800"/>
            <a:ext cx="5029200" cy="548640"/>
          </a:xfrm>
          <a:prstGeom prst="rect">
            <a:avLst/>
          </a:prstGeom>
          <a:noFill/>
        </p:spPr>
        <p:txBody>
          <a:bodyPr wrap="square">
            <a:spAutoFit/>
          </a:bodyPr>
          <a:lstStyle/>
          <a:p>
            <a:pPr algn="l"/>
            <a:r>
              <a:rPr sz="1700" b="1">
                <a:solidFill>
                  <a:srgbClr val="0F1F2E"/>
                </a:solidFill>
                <a:latin typeface="Calibri"/>
              </a:rPr>
              <a:t>Mobile apps (citizen + POS)</a:t>
            </a:r>
          </a:p>
        </p:txBody>
      </p:sp>
      <p:sp>
        <p:nvSpPr>
          <p:cNvPr id="5" name="TextBox 4"/>
          <p:cNvSpPr txBox="1"/>
          <p:nvPr/>
        </p:nvSpPr>
        <p:spPr>
          <a:xfrm>
            <a:off x="5760720" y="1828800"/>
            <a:ext cx="6035040" cy="548640"/>
          </a:xfrm>
          <a:prstGeom prst="rect">
            <a:avLst/>
          </a:prstGeom>
          <a:noFill/>
        </p:spPr>
        <p:txBody>
          <a:bodyPr wrap="square">
            <a:spAutoFit/>
          </a:bodyPr>
          <a:lstStyle/>
          <a:p>
            <a:pPr algn="l"/>
            <a:r>
              <a:rPr sz="1700" b="0">
                <a:solidFill>
                  <a:srgbClr val="216E39"/>
                </a:solidFill>
                <a:latin typeface="Calibri"/>
              </a:rPr>
              <a:t>Flutter 3 (Dart)</a:t>
            </a:r>
          </a:p>
        </p:txBody>
      </p:sp>
      <p:sp>
        <p:nvSpPr>
          <p:cNvPr id="6" name="TextBox 5"/>
          <p:cNvSpPr txBox="1"/>
          <p:nvPr/>
        </p:nvSpPr>
        <p:spPr>
          <a:xfrm>
            <a:off x="640080" y="2377440"/>
            <a:ext cx="5029200" cy="548640"/>
          </a:xfrm>
          <a:prstGeom prst="rect">
            <a:avLst/>
          </a:prstGeom>
          <a:noFill/>
        </p:spPr>
        <p:txBody>
          <a:bodyPr wrap="square">
            <a:spAutoFit/>
          </a:bodyPr>
          <a:lstStyle/>
          <a:p>
            <a:pPr algn="l"/>
            <a:r>
              <a:rPr sz="1700" b="1">
                <a:solidFill>
                  <a:srgbClr val="0F1F2E"/>
                </a:solidFill>
                <a:latin typeface="Calibri"/>
              </a:rPr>
              <a:t>Web dashboard</a:t>
            </a:r>
          </a:p>
        </p:txBody>
      </p:sp>
      <p:sp>
        <p:nvSpPr>
          <p:cNvPr id="7" name="TextBox 6"/>
          <p:cNvSpPr txBox="1"/>
          <p:nvPr/>
        </p:nvSpPr>
        <p:spPr>
          <a:xfrm>
            <a:off x="5760720" y="2377440"/>
            <a:ext cx="6035040" cy="548640"/>
          </a:xfrm>
          <a:prstGeom prst="rect">
            <a:avLst/>
          </a:prstGeom>
          <a:noFill/>
        </p:spPr>
        <p:txBody>
          <a:bodyPr wrap="square">
            <a:spAutoFit/>
          </a:bodyPr>
          <a:lstStyle/>
          <a:p>
            <a:pPr algn="l"/>
            <a:r>
              <a:rPr sz="1700" b="0">
                <a:solidFill>
                  <a:srgbClr val="216E39"/>
                </a:solidFill>
                <a:latin typeface="Calibri"/>
              </a:rPr>
              <a:t>React 19 + Vite</a:t>
            </a:r>
          </a:p>
        </p:txBody>
      </p:sp>
      <p:sp>
        <p:nvSpPr>
          <p:cNvPr id="8" name="TextBox 7"/>
          <p:cNvSpPr txBox="1"/>
          <p:nvPr/>
        </p:nvSpPr>
        <p:spPr>
          <a:xfrm>
            <a:off x="640080" y="2926080"/>
            <a:ext cx="5029200" cy="548640"/>
          </a:xfrm>
          <a:prstGeom prst="rect">
            <a:avLst/>
          </a:prstGeom>
          <a:noFill/>
        </p:spPr>
        <p:txBody>
          <a:bodyPr wrap="square">
            <a:spAutoFit/>
          </a:bodyPr>
          <a:lstStyle/>
          <a:p>
            <a:pPr algn="l"/>
            <a:r>
              <a:rPr sz="1700" b="1">
                <a:solidFill>
                  <a:srgbClr val="0F1F2E"/>
                </a:solidFill>
                <a:latin typeface="Calibri"/>
              </a:rPr>
              <a:t>Backend APIs</a:t>
            </a:r>
          </a:p>
        </p:txBody>
      </p:sp>
      <p:sp>
        <p:nvSpPr>
          <p:cNvPr id="9" name="TextBox 8"/>
          <p:cNvSpPr txBox="1"/>
          <p:nvPr/>
        </p:nvSpPr>
        <p:spPr>
          <a:xfrm>
            <a:off x="5760720" y="2926080"/>
            <a:ext cx="6035040" cy="548640"/>
          </a:xfrm>
          <a:prstGeom prst="rect">
            <a:avLst/>
          </a:prstGeom>
          <a:noFill/>
        </p:spPr>
        <p:txBody>
          <a:bodyPr wrap="square">
            <a:spAutoFit/>
          </a:bodyPr>
          <a:lstStyle/>
          <a:p>
            <a:pPr algn="l"/>
            <a:r>
              <a:rPr sz="1700" b="0">
                <a:solidFill>
                  <a:srgbClr val="216E39"/>
                </a:solidFill>
                <a:latin typeface="Calibri"/>
              </a:rPr>
              <a:t>Node.js + Express</a:t>
            </a:r>
          </a:p>
        </p:txBody>
      </p:sp>
      <p:sp>
        <p:nvSpPr>
          <p:cNvPr id="10" name="TextBox 9"/>
          <p:cNvSpPr txBox="1"/>
          <p:nvPr/>
        </p:nvSpPr>
        <p:spPr>
          <a:xfrm>
            <a:off x="640080" y="3474720"/>
            <a:ext cx="5029200" cy="548640"/>
          </a:xfrm>
          <a:prstGeom prst="rect">
            <a:avLst/>
          </a:prstGeom>
          <a:noFill/>
        </p:spPr>
        <p:txBody>
          <a:bodyPr wrap="square">
            <a:spAutoFit/>
          </a:bodyPr>
          <a:lstStyle/>
          <a:p>
            <a:pPr algn="l"/>
            <a:r>
              <a:rPr sz="1700" b="1">
                <a:solidFill>
                  <a:srgbClr val="0F1F2E"/>
                </a:solidFill>
                <a:latin typeface="Calibri"/>
              </a:rPr>
              <a:t>Database</a:t>
            </a:r>
          </a:p>
        </p:txBody>
      </p:sp>
      <p:sp>
        <p:nvSpPr>
          <p:cNvPr id="11" name="TextBox 10"/>
          <p:cNvSpPr txBox="1"/>
          <p:nvPr/>
        </p:nvSpPr>
        <p:spPr>
          <a:xfrm>
            <a:off x="5760720" y="3474720"/>
            <a:ext cx="6035040" cy="548640"/>
          </a:xfrm>
          <a:prstGeom prst="rect">
            <a:avLst/>
          </a:prstGeom>
          <a:noFill/>
        </p:spPr>
        <p:txBody>
          <a:bodyPr wrap="square">
            <a:spAutoFit/>
          </a:bodyPr>
          <a:lstStyle/>
          <a:p>
            <a:pPr algn="l"/>
            <a:r>
              <a:rPr sz="1700" b="0">
                <a:solidFill>
                  <a:srgbClr val="216E39"/>
                </a:solidFill>
                <a:latin typeface="Calibri"/>
              </a:rPr>
              <a:t>PostgreSQL on Neon (serverless)</a:t>
            </a:r>
          </a:p>
        </p:txBody>
      </p:sp>
      <p:sp>
        <p:nvSpPr>
          <p:cNvPr id="12" name="TextBox 11"/>
          <p:cNvSpPr txBox="1"/>
          <p:nvPr/>
        </p:nvSpPr>
        <p:spPr>
          <a:xfrm>
            <a:off x="640080" y="4023360"/>
            <a:ext cx="5029200" cy="548640"/>
          </a:xfrm>
          <a:prstGeom prst="rect">
            <a:avLst/>
          </a:prstGeom>
          <a:noFill/>
        </p:spPr>
        <p:txBody>
          <a:bodyPr wrap="square">
            <a:spAutoFit/>
          </a:bodyPr>
          <a:lstStyle/>
          <a:p>
            <a:pPr algn="l"/>
            <a:r>
              <a:rPr sz="1700" b="1">
                <a:solidFill>
                  <a:srgbClr val="0F1F2E"/>
                </a:solidFill>
                <a:latin typeface="Calibri"/>
              </a:rPr>
              <a:t>Offline storage (POS)</a:t>
            </a:r>
          </a:p>
        </p:txBody>
      </p:sp>
      <p:sp>
        <p:nvSpPr>
          <p:cNvPr id="13" name="TextBox 12"/>
          <p:cNvSpPr txBox="1"/>
          <p:nvPr/>
        </p:nvSpPr>
        <p:spPr>
          <a:xfrm>
            <a:off x="5760720" y="4023360"/>
            <a:ext cx="6035040" cy="548640"/>
          </a:xfrm>
          <a:prstGeom prst="rect">
            <a:avLst/>
          </a:prstGeom>
          <a:noFill/>
        </p:spPr>
        <p:txBody>
          <a:bodyPr wrap="square">
            <a:spAutoFit/>
          </a:bodyPr>
          <a:lstStyle/>
          <a:p>
            <a:pPr algn="l"/>
            <a:r>
              <a:rPr sz="1700" b="0">
                <a:solidFill>
                  <a:srgbClr val="216E39"/>
                </a:solidFill>
                <a:latin typeface="Calibri"/>
              </a:rPr>
              <a:t>SQLite (sqflite)</a:t>
            </a:r>
          </a:p>
        </p:txBody>
      </p:sp>
      <p:sp>
        <p:nvSpPr>
          <p:cNvPr id="14" name="TextBox 13"/>
          <p:cNvSpPr txBox="1"/>
          <p:nvPr/>
        </p:nvSpPr>
        <p:spPr>
          <a:xfrm>
            <a:off x="640080" y="4572000"/>
            <a:ext cx="5029200" cy="548640"/>
          </a:xfrm>
          <a:prstGeom prst="rect">
            <a:avLst/>
          </a:prstGeom>
          <a:noFill/>
        </p:spPr>
        <p:txBody>
          <a:bodyPr wrap="square">
            <a:spAutoFit/>
          </a:bodyPr>
          <a:lstStyle/>
          <a:p>
            <a:pPr algn="l"/>
            <a:r>
              <a:rPr sz="1700" b="1">
                <a:solidFill>
                  <a:srgbClr val="0F1F2E"/>
                </a:solidFill>
                <a:latin typeface="Calibri"/>
              </a:rPr>
              <a:t>Real-time sync</a:t>
            </a:r>
          </a:p>
        </p:txBody>
      </p:sp>
      <p:sp>
        <p:nvSpPr>
          <p:cNvPr id="15" name="TextBox 14"/>
          <p:cNvSpPr txBox="1"/>
          <p:nvPr/>
        </p:nvSpPr>
        <p:spPr>
          <a:xfrm>
            <a:off x="5760720" y="4572000"/>
            <a:ext cx="6035040" cy="548640"/>
          </a:xfrm>
          <a:prstGeom prst="rect">
            <a:avLst/>
          </a:prstGeom>
          <a:noFill/>
        </p:spPr>
        <p:txBody>
          <a:bodyPr wrap="square">
            <a:spAutoFit/>
          </a:bodyPr>
          <a:lstStyle/>
          <a:p>
            <a:pPr algn="l"/>
            <a:r>
              <a:rPr sz="1700" b="0">
                <a:solidFill>
                  <a:srgbClr val="216E39"/>
                </a:solidFill>
                <a:latin typeface="Calibri"/>
              </a:rPr>
              <a:t>REST APIs + Postgres triggers</a:t>
            </a:r>
          </a:p>
        </p:txBody>
      </p:sp>
      <p:sp>
        <p:nvSpPr>
          <p:cNvPr id="16" name="TextBox 15"/>
          <p:cNvSpPr txBox="1"/>
          <p:nvPr/>
        </p:nvSpPr>
        <p:spPr>
          <a:xfrm>
            <a:off x="640080" y="5303520"/>
            <a:ext cx="11247120" cy="1097280"/>
          </a:xfrm>
          <a:prstGeom prst="rect">
            <a:avLst/>
          </a:prstGeom>
          <a:noFill/>
        </p:spPr>
        <p:txBody>
          <a:bodyPr wrap="square">
            <a:spAutoFit/>
          </a:bodyPr>
          <a:lstStyle/>
          <a:p>
            <a:pPr algn="l"/>
            <a:r>
              <a:rPr sz="1700" b="1">
                <a:solidFill>
                  <a:srgbClr val="0F1F2E"/>
                </a:solidFill>
                <a:latin typeface="Calibri"/>
              </a:rPr>
              <a:t>Why this stack:</a:t>
            </a:r>
          </a:p>
        </p:txBody>
      </p:sp>
      <p:sp>
        <p:nvSpPr>
          <p:cNvPr id="17" name="TextBox 16"/>
          <p:cNvSpPr txBox="1"/>
          <p:nvPr/>
        </p:nvSpPr>
        <p:spPr>
          <a:xfrm>
            <a:off x="822960" y="5669280"/>
            <a:ext cx="10972800" cy="1097280"/>
          </a:xfrm>
          <a:prstGeom prst="rect">
            <a:avLst/>
          </a:prstGeom>
          <a:noFill/>
        </p:spPr>
        <p:txBody>
          <a:bodyPr wrap="square">
            <a:spAutoFit/>
          </a:bodyPr>
          <a:lstStyle/>
          <a:p>
            <a:pPr algn="l">
              <a:spcAft>
                <a:spcPts val="1000"/>
              </a:spcAft>
            </a:pPr>
            <a:r>
              <a:rPr sz="1400">
                <a:solidFill>
                  <a:srgbClr val="6B7A88"/>
                </a:solidFill>
                <a:latin typeface="Calibri"/>
              </a:rPr>
              <a:t>• One Flutter codebase = iOS + Android + Web</a:t>
            </a:r>
          </a:p>
          <a:p>
            <a:pPr algn="l">
              <a:spcAft>
                <a:spcPts val="1000"/>
              </a:spcAft>
            </a:pPr>
            <a:r>
              <a:rPr sz="1400">
                <a:solidFill>
                  <a:srgbClr val="6B7A88"/>
                </a:solidFill>
                <a:latin typeface="Calibri"/>
              </a:rPr>
              <a:t>• Neon scales the database automatically — no servers to manage</a:t>
            </a:r>
          </a:p>
          <a:p>
            <a:pPr algn="l">
              <a:spcAft>
                <a:spcPts val="1000"/>
              </a:spcAft>
            </a:pPr>
            <a:r>
              <a:rPr sz="1400">
                <a:solidFill>
                  <a:srgbClr val="6B7A88"/>
                </a:solidFill>
                <a:latin typeface="Calibri"/>
              </a:rPr>
              <a:t>• Secure HTTP authentication between every component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0F9D82"/>
          </a:solidFill>
          <a:ln>
            <a:noFill/>
          </a:ln>
        </p:spPr>
        <p:style>
          <a:lnRef idx="1">
            <a:schemeClr val="accent1"/>
          </a:lnRef>
          <a:fillRef idx="3">
            <a:schemeClr val="accent1"/>
          </a:fillRef>
          <a:effectRef idx="2">
            <a:schemeClr val="accent1"/>
          </a:effectRef>
          <a:fontRef idx="minor">
            <a:schemeClr val="lt1"/>
          </a:fontRef>
        </p:style>
        <p:txBody>
          <a:bodyPr rtlCol="0" anchor="ctr" lIns="548640"/>
          <a:lstStyle/>
          <a:p>
            <a:pPr algn="l"/>
            <a:r>
              <a:rPr sz="3200" b="1">
                <a:solidFill>
                  <a:srgbClr val="FFFFFF"/>
                </a:solidFill>
                <a:latin typeface="Calibri"/>
              </a:rPr>
              <a:t>One Database, One Source of Truth</a:t>
            </a:r>
          </a:p>
        </p:txBody>
      </p:sp>
      <p:sp>
        <p:nvSpPr>
          <p:cNvPr id="3" name="TextBox 2"/>
          <p:cNvSpPr txBox="1"/>
          <p:nvPr/>
        </p:nvSpPr>
        <p:spPr>
          <a:xfrm>
            <a:off x="457200" y="1097280"/>
            <a:ext cx="11247120" cy="457200"/>
          </a:xfrm>
          <a:prstGeom prst="rect">
            <a:avLst/>
          </a:prstGeom>
          <a:noFill/>
        </p:spPr>
        <p:txBody>
          <a:bodyPr wrap="square">
            <a:spAutoFit/>
          </a:bodyPr>
          <a:lstStyle/>
          <a:p>
            <a:pPr algn="l"/>
            <a:r>
              <a:rPr sz="2000" b="1">
                <a:solidFill>
                  <a:srgbClr val="0F9D82"/>
                </a:solidFill>
                <a:latin typeface="Calibri"/>
              </a:rPr>
              <a:t>40 tables. One cloud database. All three apps connected.</a:t>
            </a:r>
          </a:p>
        </p:txBody>
      </p:sp>
      <p:sp>
        <p:nvSpPr>
          <p:cNvPr id="4" name="TextBox 3"/>
          <p:cNvSpPr txBox="1"/>
          <p:nvPr/>
        </p:nvSpPr>
        <p:spPr>
          <a:xfrm>
            <a:off x="548640" y="1828800"/>
            <a:ext cx="6400800" cy="457200"/>
          </a:xfrm>
          <a:prstGeom prst="rect">
            <a:avLst/>
          </a:prstGeom>
          <a:noFill/>
        </p:spPr>
        <p:txBody>
          <a:bodyPr wrap="square">
            <a:spAutoFit/>
          </a:bodyPr>
          <a:lstStyle/>
          <a:p>
            <a:pPr algn="l"/>
            <a:r>
              <a:rPr sz="1600" b="1">
                <a:solidFill>
                  <a:srgbClr val="0F1F2E"/>
                </a:solidFill>
                <a:latin typeface="Calibri"/>
              </a:rPr>
              <a:t>Key tables we built:</a:t>
            </a:r>
          </a:p>
        </p:txBody>
      </p:sp>
      <p:sp>
        <p:nvSpPr>
          <p:cNvPr id="5" name="TextBox 4"/>
          <p:cNvSpPr txBox="1"/>
          <p:nvPr/>
        </p:nvSpPr>
        <p:spPr>
          <a:xfrm>
            <a:off x="822960" y="2286000"/>
            <a:ext cx="6400800" cy="3200400"/>
          </a:xfrm>
          <a:prstGeom prst="rect">
            <a:avLst/>
          </a:prstGeom>
          <a:noFill/>
        </p:spPr>
        <p:txBody>
          <a:bodyPr wrap="square">
            <a:spAutoFit/>
          </a:bodyPr>
          <a:lstStyle/>
          <a:p>
            <a:pPr algn="l">
              <a:spcAft>
                <a:spcPts val="1000"/>
              </a:spcAft>
            </a:pPr>
            <a:r>
              <a:rPr sz="1500">
                <a:solidFill>
                  <a:srgbClr val="0F1F2E"/>
                </a:solidFill>
                <a:latin typeface="Calibri"/>
              </a:rPr>
              <a:t>• pharmacies — every licensed pharmacy</a:t>
            </a:r>
          </a:p>
          <a:p>
            <a:pPr algn="l">
              <a:spcAft>
                <a:spcPts val="1000"/>
              </a:spcAft>
            </a:pPr>
            <a:r>
              <a:rPr sz="1500">
                <a:solidFill>
                  <a:srgbClr val="0F1F2E"/>
                </a:solidFill>
                <a:latin typeface="Calibri"/>
              </a:rPr>
              <a:t>• moph_registry — the official medicine catalog</a:t>
            </a:r>
          </a:p>
          <a:p>
            <a:pPr algn="l">
              <a:spcAft>
                <a:spcPts val="1000"/>
              </a:spcAft>
            </a:pPr>
            <a:r>
              <a:rPr sz="1500">
                <a:solidFill>
                  <a:srgbClr val="0F1F2E"/>
                </a:solidFill>
                <a:latin typeface="Calibri"/>
              </a:rPr>
              <a:t>• inventory_movements — every purchase &amp; sale ever</a:t>
            </a:r>
          </a:p>
          <a:p>
            <a:pPr algn="l">
              <a:spcAft>
                <a:spcPts val="1000"/>
              </a:spcAft>
            </a:pPr>
            <a:r>
              <a:rPr sz="1500">
                <a:solidFill>
                  <a:srgbClr val="0F1F2E"/>
                </a:solidFill>
                <a:latin typeface="Calibri"/>
              </a:rPr>
              <a:t>• pharmacy_stock — per-pharmacy live stock</a:t>
            </a:r>
          </a:p>
          <a:p>
            <a:pPr algn="l">
              <a:spcAft>
                <a:spcPts val="1000"/>
              </a:spcAft>
            </a:pPr>
            <a:r>
              <a:rPr sz="1500">
                <a:solidFill>
                  <a:srgbClr val="0F1F2E"/>
                </a:solidFill>
                <a:latin typeface="Calibri"/>
              </a:rPr>
              <a:t>• medicine_registration_requests — pending approvals</a:t>
            </a:r>
          </a:p>
          <a:p>
            <a:pPr algn="l">
              <a:spcAft>
                <a:spcPts val="1000"/>
              </a:spcAft>
            </a:pPr>
            <a:r>
              <a:rPr sz="1500">
                <a:solidFill>
                  <a:srgbClr val="0F1F2E"/>
                </a:solidFill>
                <a:latin typeface="Calibri"/>
              </a:rPr>
              <a:t>• health_news — Ministry broadcasts</a:t>
            </a:r>
          </a:p>
        </p:txBody>
      </p:sp>
      <p:sp>
        <p:nvSpPr>
          <p:cNvPr id="6" name="TextBox 5"/>
          <p:cNvSpPr txBox="1"/>
          <p:nvPr/>
        </p:nvSpPr>
        <p:spPr>
          <a:xfrm>
            <a:off x="548640" y="4937760"/>
            <a:ext cx="6858000" cy="457200"/>
          </a:xfrm>
          <a:prstGeom prst="rect">
            <a:avLst/>
          </a:prstGeom>
          <a:noFill/>
        </p:spPr>
        <p:txBody>
          <a:bodyPr wrap="square">
            <a:spAutoFit/>
          </a:bodyPr>
          <a:lstStyle/>
          <a:p>
            <a:pPr algn="l"/>
            <a:r>
              <a:rPr sz="1600" b="1">
                <a:solidFill>
                  <a:srgbClr val="216E39"/>
                </a:solidFill>
                <a:latin typeface="Calibri"/>
              </a:rPr>
              <a:t>The smart part — automatic Postgres triggers:</a:t>
            </a:r>
          </a:p>
        </p:txBody>
      </p:sp>
      <p:sp>
        <p:nvSpPr>
          <p:cNvPr id="7" name="TextBox 6"/>
          <p:cNvSpPr txBox="1"/>
          <p:nvPr/>
        </p:nvSpPr>
        <p:spPr>
          <a:xfrm>
            <a:off x="822960" y="5394960"/>
            <a:ext cx="6858000" cy="1280160"/>
          </a:xfrm>
          <a:prstGeom prst="rect">
            <a:avLst/>
          </a:prstGeom>
          <a:noFill/>
        </p:spPr>
        <p:txBody>
          <a:bodyPr wrap="square">
            <a:spAutoFit/>
          </a:bodyPr>
          <a:lstStyle/>
          <a:p>
            <a:pPr algn="l">
              <a:spcAft>
                <a:spcPts val="1000"/>
              </a:spcAft>
            </a:pPr>
            <a:r>
              <a:rPr sz="1400">
                <a:solidFill>
                  <a:srgbClr val="0F1F2E"/>
                </a:solidFill>
                <a:latin typeface="Calibri"/>
              </a:rPr>
              <a:t>A pharmacy sells 1 Panadol  →</a:t>
            </a:r>
          </a:p>
          <a:p>
            <a:pPr algn="l">
              <a:spcAft>
                <a:spcPts val="1000"/>
              </a:spcAft>
            </a:pPr>
            <a:r>
              <a:rPr sz="1400">
                <a:solidFill>
                  <a:srgbClr val="0F1F2E"/>
                </a:solidFill>
                <a:latin typeface="Calibri"/>
              </a:rPr>
              <a:t>inventory_movements gets 1 new row  →</a:t>
            </a:r>
          </a:p>
          <a:p>
            <a:pPr algn="l">
              <a:spcAft>
                <a:spcPts val="1000"/>
              </a:spcAft>
            </a:pPr>
            <a:r>
              <a:rPr sz="1400">
                <a:solidFill>
                  <a:srgbClr val="0F1F2E"/>
                </a:solidFill>
                <a:latin typeface="Calibri"/>
              </a:rPr>
              <a:t>trigger fires → pharmacy_stock &amp; national total drop by 1  →</a:t>
            </a:r>
          </a:p>
          <a:p>
            <a:pPr algn="l">
              <a:spcAft>
                <a:spcPts val="1000"/>
              </a:spcAft>
            </a:pPr>
            <a:r>
              <a:rPr sz="1400">
                <a:solidFill>
                  <a:srgbClr val="0F1F2E"/>
                </a:solidFill>
                <a:latin typeface="Calibri"/>
              </a:rPr>
              <a:t>all 3 apps see the new number instantly</a:t>
            </a:r>
          </a:p>
        </p:txBody>
      </p:sp>
      <p:sp>
        <p:nvSpPr>
          <p:cNvPr id="8" name="Rectangle 7"/>
          <p:cNvSpPr/>
          <p:nvPr/>
        </p:nvSpPr>
        <p:spPr>
          <a:xfrm>
            <a:off x="7680960" y="1828800"/>
            <a:ext cx="4114800" cy="4114800"/>
          </a:xfrm>
          <a:prstGeom prst="rect">
            <a:avLst/>
          </a:prstGeom>
          <a:solidFill>
            <a:srgbClr val="E6EAEE"/>
          </a:solidFill>
          <a:ln w="12700">
            <a:solidFill>
              <a:srgbClr val="6B7A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i="1">
                <a:solidFill>
                  <a:srgbClr val="6B7A88"/>
                </a:solidFill>
              </a:rPr>
              <a:t>[ Add Neon console screenshot
or database schema diagram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0F9D82"/>
          </a:solidFill>
          <a:ln>
            <a:noFill/>
          </a:ln>
        </p:spPr>
        <p:style>
          <a:lnRef idx="1">
            <a:schemeClr val="accent1"/>
          </a:lnRef>
          <a:fillRef idx="3">
            <a:schemeClr val="accent1"/>
          </a:fillRef>
          <a:effectRef idx="2">
            <a:schemeClr val="accent1"/>
          </a:effectRef>
          <a:fontRef idx="minor">
            <a:schemeClr val="lt1"/>
          </a:fontRef>
        </p:style>
        <p:txBody>
          <a:bodyPr rtlCol="0" anchor="ctr" lIns="548640"/>
          <a:lstStyle/>
          <a:p>
            <a:pPr algn="l"/>
            <a:r>
              <a:rPr sz="3200" b="1">
                <a:solidFill>
                  <a:srgbClr val="FFFFFF"/>
                </a:solidFill>
                <a:latin typeface="Calibri"/>
              </a:rPr>
              <a:t>What Makes MedTrack 360 Special</a:t>
            </a:r>
          </a:p>
        </p:txBody>
      </p:sp>
      <p:sp>
        <p:nvSpPr>
          <p:cNvPr id="3" name="TextBox 2"/>
          <p:cNvSpPr txBox="1"/>
          <p:nvPr/>
        </p:nvSpPr>
        <p:spPr>
          <a:xfrm>
            <a:off x="457200" y="1097280"/>
            <a:ext cx="11247120" cy="457200"/>
          </a:xfrm>
          <a:prstGeom prst="rect">
            <a:avLst/>
          </a:prstGeom>
          <a:noFill/>
        </p:spPr>
        <p:txBody>
          <a:bodyPr wrap="square">
            <a:spAutoFit/>
          </a:bodyPr>
          <a:lstStyle/>
          <a:p>
            <a:pPr algn="l"/>
            <a:r>
              <a:rPr sz="2000" b="1">
                <a:solidFill>
                  <a:srgbClr val="0F9D82"/>
                </a:solidFill>
                <a:latin typeface="Calibri"/>
              </a:rPr>
              <a:t>Seven strong features that set this project apart:</a:t>
            </a:r>
          </a:p>
        </p:txBody>
      </p:sp>
      <p:sp>
        <p:nvSpPr>
          <p:cNvPr id="4" name="TextBox 3"/>
          <p:cNvSpPr txBox="1"/>
          <p:nvPr/>
        </p:nvSpPr>
        <p:spPr>
          <a:xfrm>
            <a:off x="640080" y="1783080"/>
            <a:ext cx="457200" cy="566928"/>
          </a:xfrm>
          <a:prstGeom prst="rect">
            <a:avLst/>
          </a:prstGeom>
          <a:noFill/>
        </p:spPr>
        <p:txBody>
          <a:bodyPr wrap="square">
            <a:spAutoFit/>
          </a:bodyPr>
          <a:lstStyle/>
          <a:p>
            <a:pPr algn="l"/>
            <a:r>
              <a:rPr sz="2000" b="1">
                <a:solidFill>
                  <a:srgbClr val="0F9D82"/>
                </a:solidFill>
                <a:latin typeface="Calibri"/>
              </a:rPr>
              <a:t>1.</a:t>
            </a:r>
          </a:p>
        </p:txBody>
      </p:sp>
      <p:sp>
        <p:nvSpPr>
          <p:cNvPr id="5" name="TextBox 4"/>
          <p:cNvSpPr txBox="1"/>
          <p:nvPr/>
        </p:nvSpPr>
        <p:spPr>
          <a:xfrm>
            <a:off x="1097280" y="1783080"/>
            <a:ext cx="4572000" cy="566928"/>
          </a:xfrm>
          <a:prstGeom prst="rect">
            <a:avLst/>
          </a:prstGeom>
          <a:noFill/>
        </p:spPr>
        <p:txBody>
          <a:bodyPr wrap="square">
            <a:spAutoFit/>
          </a:bodyPr>
          <a:lstStyle/>
          <a:p>
            <a:pPr algn="l"/>
            <a:r>
              <a:rPr sz="1800" b="1">
                <a:solidFill>
                  <a:srgbClr val="0F1F2E"/>
                </a:solidFill>
                <a:latin typeface="Calibri"/>
              </a:rPr>
              <a:t>One unified ecosystem</a:t>
            </a:r>
          </a:p>
        </p:txBody>
      </p:sp>
      <p:sp>
        <p:nvSpPr>
          <p:cNvPr id="6" name="TextBox 5"/>
          <p:cNvSpPr txBox="1"/>
          <p:nvPr/>
        </p:nvSpPr>
        <p:spPr>
          <a:xfrm>
            <a:off x="5760720" y="1783080"/>
            <a:ext cx="6035040" cy="566928"/>
          </a:xfrm>
          <a:prstGeom prst="rect">
            <a:avLst/>
          </a:prstGeom>
          <a:noFill/>
        </p:spPr>
        <p:txBody>
          <a:bodyPr wrap="square">
            <a:spAutoFit/>
          </a:bodyPr>
          <a:lstStyle/>
          <a:p>
            <a:pPr algn="l"/>
            <a:r>
              <a:rPr sz="1400" b="0">
                <a:solidFill>
                  <a:srgbClr val="6B7A88"/>
                </a:solidFill>
                <a:latin typeface="Calibri"/>
              </a:rPr>
              <a:t>Citizens, pharmacies, Ministry — same data</a:t>
            </a:r>
          </a:p>
        </p:txBody>
      </p:sp>
      <p:sp>
        <p:nvSpPr>
          <p:cNvPr id="7" name="TextBox 6"/>
          <p:cNvSpPr txBox="1"/>
          <p:nvPr/>
        </p:nvSpPr>
        <p:spPr>
          <a:xfrm>
            <a:off x="640080" y="2350008"/>
            <a:ext cx="457200" cy="566928"/>
          </a:xfrm>
          <a:prstGeom prst="rect">
            <a:avLst/>
          </a:prstGeom>
          <a:noFill/>
        </p:spPr>
        <p:txBody>
          <a:bodyPr wrap="square">
            <a:spAutoFit/>
          </a:bodyPr>
          <a:lstStyle/>
          <a:p>
            <a:pPr algn="l"/>
            <a:r>
              <a:rPr sz="2000" b="1">
                <a:solidFill>
                  <a:srgbClr val="0F9D82"/>
                </a:solidFill>
                <a:latin typeface="Calibri"/>
              </a:rPr>
              <a:t>2.</a:t>
            </a:r>
          </a:p>
        </p:txBody>
      </p:sp>
      <p:sp>
        <p:nvSpPr>
          <p:cNvPr id="8" name="TextBox 7"/>
          <p:cNvSpPr txBox="1"/>
          <p:nvPr/>
        </p:nvSpPr>
        <p:spPr>
          <a:xfrm>
            <a:off x="1097280" y="2350008"/>
            <a:ext cx="4572000" cy="566928"/>
          </a:xfrm>
          <a:prstGeom prst="rect">
            <a:avLst/>
          </a:prstGeom>
          <a:noFill/>
        </p:spPr>
        <p:txBody>
          <a:bodyPr wrap="square">
            <a:spAutoFit/>
          </a:bodyPr>
          <a:lstStyle/>
          <a:p>
            <a:pPr algn="l"/>
            <a:r>
              <a:rPr sz="1800" b="1">
                <a:solidFill>
                  <a:srgbClr val="0F1F2E"/>
                </a:solidFill>
                <a:latin typeface="Calibri"/>
              </a:rPr>
              <a:t>Automatic compliance detection</a:t>
            </a:r>
          </a:p>
        </p:txBody>
      </p:sp>
      <p:sp>
        <p:nvSpPr>
          <p:cNvPr id="9" name="TextBox 8"/>
          <p:cNvSpPr txBox="1"/>
          <p:nvPr/>
        </p:nvSpPr>
        <p:spPr>
          <a:xfrm>
            <a:off x="5760720" y="2350008"/>
            <a:ext cx="6035040" cy="566928"/>
          </a:xfrm>
          <a:prstGeom prst="rect">
            <a:avLst/>
          </a:prstGeom>
          <a:noFill/>
        </p:spPr>
        <p:txBody>
          <a:bodyPr wrap="square">
            <a:spAutoFit/>
          </a:bodyPr>
          <a:lstStyle/>
          <a:p>
            <a:pPr algn="l"/>
            <a:r>
              <a:rPr sz="1400" b="0">
                <a:solidFill>
                  <a:srgbClr val="6B7A88"/>
                </a:solidFill>
                <a:latin typeface="Calibri"/>
              </a:rPr>
              <a:t>No manual inspections needed</a:t>
            </a:r>
          </a:p>
        </p:txBody>
      </p:sp>
      <p:sp>
        <p:nvSpPr>
          <p:cNvPr id="10" name="TextBox 9"/>
          <p:cNvSpPr txBox="1"/>
          <p:nvPr/>
        </p:nvSpPr>
        <p:spPr>
          <a:xfrm>
            <a:off x="640080" y="2916936"/>
            <a:ext cx="457200" cy="566928"/>
          </a:xfrm>
          <a:prstGeom prst="rect">
            <a:avLst/>
          </a:prstGeom>
          <a:noFill/>
        </p:spPr>
        <p:txBody>
          <a:bodyPr wrap="square">
            <a:spAutoFit/>
          </a:bodyPr>
          <a:lstStyle/>
          <a:p>
            <a:pPr algn="l"/>
            <a:r>
              <a:rPr sz="2000" b="1">
                <a:solidFill>
                  <a:srgbClr val="0F9D82"/>
                </a:solidFill>
                <a:latin typeface="Calibri"/>
              </a:rPr>
              <a:t>3.</a:t>
            </a:r>
          </a:p>
        </p:txBody>
      </p:sp>
      <p:sp>
        <p:nvSpPr>
          <p:cNvPr id="11" name="TextBox 10"/>
          <p:cNvSpPr txBox="1"/>
          <p:nvPr/>
        </p:nvSpPr>
        <p:spPr>
          <a:xfrm>
            <a:off x="1097280" y="2916936"/>
            <a:ext cx="4572000" cy="566928"/>
          </a:xfrm>
          <a:prstGeom prst="rect">
            <a:avLst/>
          </a:prstGeom>
          <a:noFill/>
        </p:spPr>
        <p:txBody>
          <a:bodyPr wrap="square">
            <a:spAutoFit/>
          </a:bodyPr>
          <a:lstStyle/>
          <a:p>
            <a:pPr algn="l"/>
            <a:r>
              <a:rPr sz="1800" b="1">
                <a:solidFill>
                  <a:srgbClr val="0F1F2E"/>
                </a:solidFill>
                <a:latin typeface="Calibri"/>
              </a:rPr>
              <a:t>Offline-first POS</a:t>
            </a:r>
          </a:p>
        </p:txBody>
      </p:sp>
      <p:sp>
        <p:nvSpPr>
          <p:cNvPr id="12" name="TextBox 11"/>
          <p:cNvSpPr txBox="1"/>
          <p:nvPr/>
        </p:nvSpPr>
        <p:spPr>
          <a:xfrm>
            <a:off x="5760720" y="2916936"/>
            <a:ext cx="6035040" cy="566928"/>
          </a:xfrm>
          <a:prstGeom prst="rect">
            <a:avLst/>
          </a:prstGeom>
          <a:noFill/>
        </p:spPr>
        <p:txBody>
          <a:bodyPr wrap="square">
            <a:spAutoFit/>
          </a:bodyPr>
          <a:lstStyle/>
          <a:p>
            <a:pPr algn="l"/>
            <a:r>
              <a:rPr sz="1400" b="0">
                <a:solidFill>
                  <a:srgbClr val="6B7A88"/>
                </a:solidFill>
                <a:latin typeface="Calibri"/>
              </a:rPr>
              <a:t>Works without internet, syncs when online</a:t>
            </a:r>
          </a:p>
        </p:txBody>
      </p:sp>
      <p:sp>
        <p:nvSpPr>
          <p:cNvPr id="13" name="TextBox 12"/>
          <p:cNvSpPr txBox="1"/>
          <p:nvPr/>
        </p:nvSpPr>
        <p:spPr>
          <a:xfrm>
            <a:off x="640080" y="3483864"/>
            <a:ext cx="457200" cy="566928"/>
          </a:xfrm>
          <a:prstGeom prst="rect">
            <a:avLst/>
          </a:prstGeom>
          <a:noFill/>
        </p:spPr>
        <p:txBody>
          <a:bodyPr wrap="square">
            <a:spAutoFit/>
          </a:bodyPr>
          <a:lstStyle/>
          <a:p>
            <a:pPr algn="l"/>
            <a:r>
              <a:rPr sz="2000" b="1">
                <a:solidFill>
                  <a:srgbClr val="0F9D82"/>
                </a:solidFill>
                <a:latin typeface="Calibri"/>
              </a:rPr>
              <a:t>4.</a:t>
            </a:r>
          </a:p>
        </p:txBody>
      </p:sp>
      <p:sp>
        <p:nvSpPr>
          <p:cNvPr id="14" name="TextBox 13"/>
          <p:cNvSpPr txBox="1"/>
          <p:nvPr/>
        </p:nvSpPr>
        <p:spPr>
          <a:xfrm>
            <a:off x="1097280" y="3483864"/>
            <a:ext cx="4572000" cy="566928"/>
          </a:xfrm>
          <a:prstGeom prst="rect">
            <a:avLst/>
          </a:prstGeom>
          <a:noFill/>
        </p:spPr>
        <p:txBody>
          <a:bodyPr wrap="square">
            <a:spAutoFit/>
          </a:bodyPr>
          <a:lstStyle/>
          <a:p>
            <a:pPr algn="l"/>
            <a:r>
              <a:rPr sz="1800" b="1">
                <a:solidFill>
                  <a:srgbClr val="0F1F2E"/>
                </a:solidFill>
                <a:latin typeface="Calibri"/>
              </a:rPr>
              <a:t>Real Lebanese data</a:t>
            </a:r>
          </a:p>
        </p:txBody>
      </p:sp>
      <p:sp>
        <p:nvSpPr>
          <p:cNvPr id="15" name="TextBox 14"/>
          <p:cNvSpPr txBox="1"/>
          <p:nvPr/>
        </p:nvSpPr>
        <p:spPr>
          <a:xfrm>
            <a:off x="5760720" y="3483864"/>
            <a:ext cx="6035040" cy="566928"/>
          </a:xfrm>
          <a:prstGeom prst="rect">
            <a:avLst/>
          </a:prstGeom>
          <a:noFill/>
        </p:spPr>
        <p:txBody>
          <a:bodyPr wrap="square">
            <a:spAutoFit/>
          </a:bodyPr>
          <a:lstStyle/>
          <a:p>
            <a:pPr algn="l"/>
            <a:r>
              <a:rPr sz="1400" b="0">
                <a:solidFill>
                  <a:srgbClr val="6B7A88"/>
                </a:solidFill>
                <a:latin typeface="Calibri"/>
              </a:rPr>
              <a:t>24 pharmacies, MoPH-aligned catalog</a:t>
            </a:r>
          </a:p>
        </p:txBody>
      </p:sp>
      <p:sp>
        <p:nvSpPr>
          <p:cNvPr id="16" name="TextBox 15"/>
          <p:cNvSpPr txBox="1"/>
          <p:nvPr/>
        </p:nvSpPr>
        <p:spPr>
          <a:xfrm>
            <a:off x="640080" y="4050792"/>
            <a:ext cx="457200" cy="566928"/>
          </a:xfrm>
          <a:prstGeom prst="rect">
            <a:avLst/>
          </a:prstGeom>
          <a:noFill/>
        </p:spPr>
        <p:txBody>
          <a:bodyPr wrap="square">
            <a:spAutoFit/>
          </a:bodyPr>
          <a:lstStyle/>
          <a:p>
            <a:pPr algn="l"/>
            <a:r>
              <a:rPr sz="2000" b="1">
                <a:solidFill>
                  <a:srgbClr val="0F9D82"/>
                </a:solidFill>
                <a:latin typeface="Calibri"/>
              </a:rPr>
              <a:t>5.</a:t>
            </a:r>
          </a:p>
        </p:txBody>
      </p:sp>
      <p:sp>
        <p:nvSpPr>
          <p:cNvPr id="17" name="TextBox 16"/>
          <p:cNvSpPr txBox="1"/>
          <p:nvPr/>
        </p:nvSpPr>
        <p:spPr>
          <a:xfrm>
            <a:off x="1097280" y="4050792"/>
            <a:ext cx="4572000" cy="566928"/>
          </a:xfrm>
          <a:prstGeom prst="rect">
            <a:avLst/>
          </a:prstGeom>
          <a:noFill/>
        </p:spPr>
        <p:txBody>
          <a:bodyPr wrap="square">
            <a:spAutoFit/>
          </a:bodyPr>
          <a:lstStyle/>
          <a:p>
            <a:pPr algn="l"/>
            <a:r>
              <a:rPr sz="1800" b="1">
                <a:solidFill>
                  <a:srgbClr val="0F1F2E"/>
                </a:solidFill>
                <a:latin typeface="Calibri"/>
              </a:rPr>
              <a:t>One-click medicine approval</a:t>
            </a:r>
          </a:p>
        </p:txBody>
      </p:sp>
      <p:sp>
        <p:nvSpPr>
          <p:cNvPr id="18" name="TextBox 17"/>
          <p:cNvSpPr txBox="1"/>
          <p:nvPr/>
        </p:nvSpPr>
        <p:spPr>
          <a:xfrm>
            <a:off x="5760720" y="4050792"/>
            <a:ext cx="6035040" cy="566928"/>
          </a:xfrm>
          <a:prstGeom prst="rect">
            <a:avLst/>
          </a:prstGeom>
          <a:noFill/>
        </p:spPr>
        <p:txBody>
          <a:bodyPr wrap="square">
            <a:spAutoFit/>
          </a:bodyPr>
          <a:lstStyle/>
          <a:p>
            <a:pPr algn="l"/>
            <a:r>
              <a:rPr sz="1400" b="0">
                <a:solidFill>
                  <a:srgbClr val="6B7A88"/>
                </a:solidFill>
                <a:latin typeface="Calibri"/>
              </a:rPr>
              <a:t>Pharmacy submits → Ministry approves → public sees it</a:t>
            </a:r>
          </a:p>
        </p:txBody>
      </p:sp>
      <p:sp>
        <p:nvSpPr>
          <p:cNvPr id="19" name="TextBox 18"/>
          <p:cNvSpPr txBox="1"/>
          <p:nvPr/>
        </p:nvSpPr>
        <p:spPr>
          <a:xfrm>
            <a:off x="640080" y="4617720"/>
            <a:ext cx="457200" cy="566928"/>
          </a:xfrm>
          <a:prstGeom prst="rect">
            <a:avLst/>
          </a:prstGeom>
          <a:noFill/>
        </p:spPr>
        <p:txBody>
          <a:bodyPr wrap="square">
            <a:spAutoFit/>
          </a:bodyPr>
          <a:lstStyle/>
          <a:p>
            <a:pPr algn="l"/>
            <a:r>
              <a:rPr sz="2000" b="1">
                <a:solidFill>
                  <a:srgbClr val="0F9D82"/>
                </a:solidFill>
                <a:latin typeface="Calibri"/>
              </a:rPr>
              <a:t>6.</a:t>
            </a:r>
          </a:p>
        </p:txBody>
      </p:sp>
      <p:sp>
        <p:nvSpPr>
          <p:cNvPr id="20" name="TextBox 19"/>
          <p:cNvSpPr txBox="1"/>
          <p:nvPr/>
        </p:nvSpPr>
        <p:spPr>
          <a:xfrm>
            <a:off x="1097280" y="4617720"/>
            <a:ext cx="4572000" cy="566928"/>
          </a:xfrm>
          <a:prstGeom prst="rect">
            <a:avLst/>
          </a:prstGeom>
          <a:noFill/>
        </p:spPr>
        <p:txBody>
          <a:bodyPr wrap="square">
            <a:spAutoFit/>
          </a:bodyPr>
          <a:lstStyle/>
          <a:p>
            <a:pPr algn="l"/>
            <a:r>
              <a:rPr sz="1800" b="1">
                <a:solidFill>
                  <a:srgbClr val="0F1F2E"/>
                </a:solidFill>
                <a:latin typeface="Calibri"/>
              </a:rPr>
              <a:t>Cross-platform reach</a:t>
            </a:r>
          </a:p>
        </p:txBody>
      </p:sp>
      <p:sp>
        <p:nvSpPr>
          <p:cNvPr id="21" name="TextBox 20"/>
          <p:cNvSpPr txBox="1"/>
          <p:nvPr/>
        </p:nvSpPr>
        <p:spPr>
          <a:xfrm>
            <a:off x="5760720" y="4617720"/>
            <a:ext cx="6035040" cy="566928"/>
          </a:xfrm>
          <a:prstGeom prst="rect">
            <a:avLst/>
          </a:prstGeom>
          <a:noFill/>
        </p:spPr>
        <p:txBody>
          <a:bodyPr wrap="square">
            <a:spAutoFit/>
          </a:bodyPr>
          <a:lstStyle/>
          <a:p>
            <a:pPr algn="l"/>
            <a:r>
              <a:rPr sz="1400" b="0">
                <a:solidFill>
                  <a:srgbClr val="6B7A88"/>
                </a:solidFill>
                <a:latin typeface="Calibri"/>
              </a:rPr>
              <a:t>Phones, browsers, desktop</a:t>
            </a:r>
          </a:p>
        </p:txBody>
      </p:sp>
      <p:sp>
        <p:nvSpPr>
          <p:cNvPr id="22" name="TextBox 21"/>
          <p:cNvSpPr txBox="1"/>
          <p:nvPr/>
        </p:nvSpPr>
        <p:spPr>
          <a:xfrm>
            <a:off x="640080" y="5184648"/>
            <a:ext cx="457200" cy="566928"/>
          </a:xfrm>
          <a:prstGeom prst="rect">
            <a:avLst/>
          </a:prstGeom>
          <a:noFill/>
        </p:spPr>
        <p:txBody>
          <a:bodyPr wrap="square">
            <a:spAutoFit/>
          </a:bodyPr>
          <a:lstStyle/>
          <a:p>
            <a:pPr algn="l"/>
            <a:r>
              <a:rPr sz="2000" b="1">
                <a:solidFill>
                  <a:srgbClr val="0F9D82"/>
                </a:solidFill>
                <a:latin typeface="Calibri"/>
              </a:rPr>
              <a:t>7.</a:t>
            </a:r>
          </a:p>
        </p:txBody>
      </p:sp>
      <p:sp>
        <p:nvSpPr>
          <p:cNvPr id="23" name="TextBox 22"/>
          <p:cNvSpPr txBox="1"/>
          <p:nvPr/>
        </p:nvSpPr>
        <p:spPr>
          <a:xfrm>
            <a:off x="1097280" y="5184648"/>
            <a:ext cx="4572000" cy="566928"/>
          </a:xfrm>
          <a:prstGeom prst="rect">
            <a:avLst/>
          </a:prstGeom>
          <a:noFill/>
        </p:spPr>
        <p:txBody>
          <a:bodyPr wrap="square">
            <a:spAutoFit/>
          </a:bodyPr>
          <a:lstStyle/>
          <a:p>
            <a:pPr algn="l"/>
            <a:r>
              <a:rPr sz="1800" b="1">
                <a:solidFill>
                  <a:srgbClr val="0F1F2E"/>
                </a:solidFill>
                <a:latin typeface="Calibri"/>
              </a:rPr>
              <a:t>Scalable cloud architecture</a:t>
            </a:r>
          </a:p>
        </p:txBody>
      </p:sp>
      <p:sp>
        <p:nvSpPr>
          <p:cNvPr id="24" name="TextBox 23"/>
          <p:cNvSpPr txBox="1"/>
          <p:nvPr/>
        </p:nvSpPr>
        <p:spPr>
          <a:xfrm>
            <a:off x="5760720" y="5184648"/>
            <a:ext cx="6035040" cy="566928"/>
          </a:xfrm>
          <a:prstGeom prst="rect">
            <a:avLst/>
          </a:prstGeom>
          <a:noFill/>
        </p:spPr>
        <p:txBody>
          <a:bodyPr wrap="square">
            <a:spAutoFit/>
          </a:bodyPr>
          <a:lstStyle/>
          <a:p>
            <a:pPr algn="l"/>
            <a:r>
              <a:rPr sz="1400" b="0">
                <a:solidFill>
                  <a:srgbClr val="6B7A88"/>
                </a:solidFill>
                <a:latin typeface="Calibri"/>
              </a:rPr>
              <a:t>Ready for hundreds of pharmacies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F2E"/>
        </a:solidFill>
        <a:effectLst/>
      </p:bgPr>
    </p:bg>
    <p:spTree>
      <p:nvGrpSpPr>
        <p:cNvPr id="1" name=""/>
        <p:cNvGrpSpPr/>
        <p:nvPr/>
      </p:nvGrpSpPr>
      <p:grpSpPr/>
      <p:sp>
        <p:nvSpPr>
          <p:cNvPr id="2" name="TextBox 1"/>
          <p:cNvSpPr txBox="1"/>
          <p:nvPr/>
        </p:nvSpPr>
        <p:spPr>
          <a:xfrm>
            <a:off x="457200" y="2377440"/>
            <a:ext cx="11247120" cy="1097280"/>
          </a:xfrm>
          <a:prstGeom prst="rect">
            <a:avLst/>
          </a:prstGeom>
          <a:noFill/>
        </p:spPr>
        <p:txBody>
          <a:bodyPr wrap="square">
            <a:spAutoFit/>
          </a:bodyPr>
          <a:lstStyle/>
          <a:p>
            <a:pPr algn="ctr"/>
            <a:r>
              <a:rPr sz="6400" b="1">
                <a:solidFill>
                  <a:srgbClr val="FFFFFF"/>
                </a:solidFill>
                <a:latin typeface="Calibri"/>
              </a:rPr>
              <a:t>MedTrack 360</a:t>
            </a:r>
          </a:p>
        </p:txBody>
      </p:sp>
      <p:sp>
        <p:nvSpPr>
          <p:cNvPr id="3" name="TextBox 2"/>
          <p:cNvSpPr txBox="1"/>
          <p:nvPr/>
        </p:nvSpPr>
        <p:spPr>
          <a:xfrm>
            <a:off x="457200" y="3383280"/>
            <a:ext cx="11247120" cy="640080"/>
          </a:xfrm>
          <a:prstGeom prst="rect">
            <a:avLst/>
          </a:prstGeom>
          <a:noFill/>
        </p:spPr>
        <p:txBody>
          <a:bodyPr wrap="square">
            <a:spAutoFit/>
          </a:bodyPr>
          <a:lstStyle/>
          <a:p>
            <a:pPr algn="ctr"/>
            <a:r>
              <a:rPr sz="3600" b="1">
                <a:solidFill>
                  <a:srgbClr val="0F9D82"/>
                </a:solidFill>
                <a:latin typeface="Calibri"/>
              </a:rPr>
              <a:t>Thank you.</a:t>
            </a:r>
          </a:p>
        </p:txBody>
      </p:sp>
      <p:sp>
        <p:nvSpPr>
          <p:cNvPr id="4" name="TextBox 3"/>
          <p:cNvSpPr txBox="1"/>
          <p:nvPr/>
        </p:nvSpPr>
        <p:spPr>
          <a:xfrm>
            <a:off x="457200" y="4389120"/>
            <a:ext cx="11247120" cy="548640"/>
          </a:xfrm>
          <a:prstGeom prst="rect">
            <a:avLst/>
          </a:prstGeom>
          <a:noFill/>
        </p:spPr>
        <p:txBody>
          <a:bodyPr wrap="square">
            <a:spAutoFit/>
          </a:bodyPr>
          <a:lstStyle/>
          <a:p>
            <a:pPr algn="ctr"/>
            <a:r>
              <a:rPr sz="2000" b="0">
                <a:solidFill>
                  <a:srgbClr val="FFFFFF"/>
                </a:solidFill>
                <a:latin typeface="Calibri"/>
              </a:rPr>
              <a:t>We're ready for a live demo and your questions.</a:t>
            </a:r>
          </a:p>
        </p:txBody>
      </p:sp>
      <p:sp>
        <p:nvSpPr>
          <p:cNvPr id="5" name="TextBox 4"/>
          <p:cNvSpPr txBox="1"/>
          <p:nvPr/>
        </p:nvSpPr>
        <p:spPr>
          <a:xfrm>
            <a:off x="457200" y="5486400"/>
            <a:ext cx="11247120" cy="457200"/>
          </a:xfrm>
          <a:prstGeom prst="rect">
            <a:avLst/>
          </a:prstGeom>
          <a:noFill/>
        </p:spPr>
        <p:txBody>
          <a:bodyPr wrap="square">
            <a:spAutoFit/>
          </a:bodyPr>
          <a:lstStyle/>
          <a:p>
            <a:pPr algn="ctr"/>
            <a:r>
              <a:rPr sz="1600" b="0">
                <a:solidFill>
                  <a:srgbClr val="6B7A88"/>
                </a:solidFill>
                <a:latin typeface="Calibri"/>
              </a:rPr>
              <a:t>github.com/roybilain1/MedTrack360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